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B30"/>
                </a:solidFill>
                <a:latin typeface="Meiryo"/>
              </a:defRPr>
            </a:pPr>
            <a:r>
              <a:rPr sz="1100" b="0" i="0" u="none" strike="noStrike">
                <a:solidFill>
                  <a:srgbClr val="1B2B30"/>
                </a:solidFill>
                <a:latin typeface="Meiryo"/>
              </a:rPr>
              <a:t>65歳以上の不慮の事故による死亡者数（令和3年）</a:t>
            </a:r>
          </a:p>
        </c:rich>
      </c:tx>
      <c:layout/>
      <c:overlay val="0"/>
    </c:title>
    <c:autoTitleDeleted val="0"/>
    <c:plotArea>
      <c:layout/>
      <c:barChart>
        <c:barDir val="bar"/>
        <c:grouping val="clustered"/>
        <c:varyColors val="0"/>
        <c:ser>
          <c:idx val="0"/>
          <c:order val="0"/>
          <c:tx>
            <c:strRef>
              <c:f>Sheet1!$B$1</c:f>
              <c:strCache>
                <c:ptCount val="1"/>
                <c:pt idx="0">
                  <c:v>死亡者数</c:v>
                </c:pt>
              </c:strCache>
            </c:strRef>
          </c:tx>
          <c:spPr>
            <a:solidFill>
              <a:srgbClr val="1F6F78"/>
            </a:solidFill>
            <a:effectLst/>
          </c:spPr>
          <c:invertIfNegative val="0"/>
          <c:dLbls>
            <c:numFmt formatCode="#,##0" sourceLinked="0"/>
            <c:txPr>
              <a:bodyPr/>
              <a:lstStyle/>
              <a:p>
                <a:pPr>
                  <a:defRPr b="0" i="0" strike="noStrike" sz="1000" u="none">
                    <a:solidFill>
                      <a:srgbClr val="1B2B30"/>
                    </a:solidFill>
                    <a:latin typeface="Arial"/>
                  </a:defRPr>
                </a:pPr>
              </a:p>
            </c:txPr>
            <c:showLegendKey val="0"/>
            <c:showVal val="1"/>
            <c:showCatName val="0"/>
            <c:showSerName val="0"/>
            <c:showPercent val="0"/>
            <c:showBubbleSize val="0"/>
            <c:showLeaderLines val="0"/>
          </c:dLbls>
          <c:dPt>
            <c:idx val="0"/>
            <c:invertIfNegative val="0"/>
            <c:bubble3D val="0"/>
            <c:spPr>
              <a:solidFill>
                <a:srgbClr val="1F6F78"/>
              </a:solidFill>
              <a:effectLst/>
            </c:spPr>
          </c:dPt>
          <c:dPt>
            <c:idx val="1"/>
            <c:invertIfNegative val="0"/>
            <c:bubble3D val="0"/>
            <c:spPr>
              <a:solidFill>
                <a:srgbClr val="9CC8CC"/>
              </a:solidFill>
              <a:effectLst/>
            </c:spPr>
          </c:dPt>
          <c:dPt>
            <c:idx val="2"/>
            <c:invertIfNegative val="0"/>
            <c:bubble3D val="0"/>
            <c:spPr>
              <a:solidFill>
                <a:srgbClr val="9CC8CC"/>
              </a:solidFill>
              <a:effectLst/>
            </c:spPr>
          </c:dPt>
          <c:dPt>
            <c:idx val="3"/>
            <c:invertIfNegative val="0"/>
            <c:bubble3D val="0"/>
            <c:spPr>
              <a:solidFill>
                <a:srgbClr val="9CC8CC"/>
              </a:solidFill>
              <a:effectLst/>
            </c:spPr>
          </c:dPt>
          <c:cat>
            <c:multiLvlStrRef>
              <c:f>Sheet1!$A$2:$A$5</c:f>
              <c:multiLvlStrCache>
                <c:ptCount val="4"/>
                <c:lvl>
                  <c:pt idx="0">
                    <c:v>転倒・転落・墜落</c:v>
                  </c:pt>
                  <c:pt idx="1">
                    <c:v>窒息</c:v>
                  </c:pt>
                  <c:pt idx="2">
                    <c:v>溺死・溺水</c:v>
                  </c:pt>
                  <c:pt idx="3">
                    <c:v>交通事故</c:v>
                  </c:pt>
                </c:lvl>
              </c:multiLvlStrCache>
            </c:multiLvlStrRef>
          </c:cat>
          <c:val>
            <c:numRef>
              <c:f>Sheet1!$B$2:$B$5</c:f>
              <c:numCache>
                <c:formatCode>General</c:formatCode>
                <c:ptCount val="4"/>
                <c:pt idx="0">
                  <c:v>9509</c:v>
                </c:pt>
                <c:pt idx="1">
                  <c:v>7246</c:v>
                </c:pt>
                <c:pt idx="2">
                  <c:v>6458</c:v>
                </c:pt>
                <c:pt idx="3">
                  <c:v>2150</c:v>
                </c:pt>
              </c:numCache>
            </c:numRef>
          </c:val>
        </c:ser>
        <c:dLbls>
          <c:numFmt formatCode="#,##0" sourceLinked="0"/>
          <c:txPr>
            <a:bodyPr/>
            <a:lstStyle/>
            <a:p>
              <a:pPr>
                <a:defRPr b="0" i="0" strike="noStrike" sz="1000" u="none">
                  <a:solidFill>
                    <a:srgbClr val="1B2B3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B30"/>
                </a:solidFill>
                <a:latin typeface="Meiryo"/>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タイトル。映像を外に出さずにマイコン内で転倒を検知する見守りシステム。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548640"/>
            <a:ext cx="5486400" cy="274320"/>
          </a:xfrm>
          <a:prstGeom prst="rect">
            <a:avLst/>
          </a:prstGeom>
          <a:noFill/>
          <a:ln/>
        </p:spPr>
        <p:txBody>
          <a:bodyPr wrap="square" lIns="0" tIns="0" rIns="0" bIns="0" rtlCol="0" anchor="ctr"/>
          <a:lstStyle/>
          <a:p>
            <a:pPr indent="0" marL="0">
              <a:buNone/>
            </a:pPr>
            <a:r>
              <a:rPr lang="en-US" sz="1100" dirty="0">
                <a:solidFill>
                  <a:srgbClr val="9CC8CC"/>
                </a:solidFill>
                <a:latin typeface="Meiryo" pitchFamily="34" charset="0"/>
                <a:ea typeface="Meiryo" pitchFamily="34" charset="-122"/>
                <a:cs typeface="Meiryo" pitchFamily="34" charset="-120"/>
              </a:rPr>
              <a:t>TRONプログラミングコンテスト2026  RTOSアプリケーション部門</a:t>
            </a:r>
            <a:endParaRPr lang="en-US" sz="1100" dirty="0"/>
          </a:p>
        </p:txBody>
      </p:sp>
      <p:sp>
        <p:nvSpPr>
          <p:cNvPr id="3" name="Text 1"/>
          <p:cNvSpPr txBox="1"/>
          <p:nvPr/>
        </p:nvSpPr>
        <p:spPr>
          <a:xfrm>
            <a:off x="548640" y="1051560"/>
            <a:ext cx="5120640" cy="155448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Meiryo" pitchFamily="34" charset="0"/>
                <a:ea typeface="Meiryo" pitchFamily="34" charset="-122"/>
                <a:cs typeface="Meiryo" pitchFamily="34" charset="-120"/>
              </a:rPr>
              <a:t>プライバシー保護型</a:t>
            </a:r>
            <a:endParaRPr lang="en-US" sz="3600" dirty="0"/>
          </a:p>
          <a:p>
            <a:pPr indent="0" marL="0">
              <a:lnSpc>
                <a:spcPct val="105000"/>
              </a:lnSpc>
              <a:buNone/>
            </a:pPr>
            <a:r>
              <a:rPr lang="en-US" sz="3600" b="1" dirty="0">
                <a:solidFill>
                  <a:srgbClr val="FFFFFF"/>
                </a:solidFill>
                <a:latin typeface="Meiryo" pitchFamily="34" charset="0"/>
                <a:ea typeface="Meiryo" pitchFamily="34" charset="-122"/>
                <a:cs typeface="Meiryo" pitchFamily="34" charset="-120"/>
              </a:rPr>
              <a:t>転倒検知エッジAI</a:t>
            </a:r>
            <a:endParaRPr lang="en-US" sz="3600" dirty="0"/>
          </a:p>
        </p:txBody>
      </p:sp>
      <p:sp>
        <p:nvSpPr>
          <p:cNvPr id="4" name="Text 2"/>
          <p:cNvSpPr txBox="1"/>
          <p:nvPr/>
        </p:nvSpPr>
        <p:spPr>
          <a:xfrm>
            <a:off x="548640" y="2743200"/>
            <a:ext cx="5120640" cy="640080"/>
          </a:xfrm>
          <a:prstGeom prst="rect">
            <a:avLst/>
          </a:prstGeom>
          <a:noFill/>
          <a:ln/>
        </p:spPr>
        <p:txBody>
          <a:bodyPr wrap="square" lIns="0" tIns="0" rIns="0" bIns="0" rtlCol="0" anchor="ctr"/>
          <a:lstStyle/>
          <a:p>
            <a:pPr indent="0" marL="0">
              <a:buNone/>
            </a:pPr>
            <a:r>
              <a:rPr lang="en-US" sz="1400" dirty="0">
                <a:solidFill>
                  <a:srgbClr val="9CC8CC"/>
                </a:solidFill>
                <a:latin typeface="Meiryo" pitchFamily="34" charset="0"/>
                <a:ea typeface="Meiryo" pitchFamily="34" charset="-122"/>
                <a:cs typeface="Meiryo" pitchFamily="34" charset="-120"/>
              </a:rPr>
              <a:t>μT-Kernel 3.0 × Arm Ethos-U55 NPU</a:t>
            </a:r>
            <a:endParaRPr lang="en-US" sz="1400" dirty="0"/>
          </a:p>
          <a:p>
            <a:pPr indent="0" marL="0">
              <a:buNone/>
            </a:pPr>
            <a:r>
              <a:rPr lang="en-US" sz="1400" dirty="0">
                <a:solidFill>
                  <a:srgbClr val="9CC8CC"/>
                </a:solidFill>
                <a:latin typeface="Meiryo" pitchFamily="34" charset="0"/>
                <a:ea typeface="Meiryo" pitchFamily="34" charset="-122"/>
                <a:cs typeface="Meiryo" pitchFamily="34" charset="-120"/>
              </a:rPr>
              <a:t>on Renesas EK-RA8P1</a:t>
            </a:r>
            <a:endParaRPr lang="en-US" sz="1400" dirty="0"/>
          </a:p>
        </p:txBody>
      </p:sp>
      <p:sp>
        <p:nvSpPr>
          <p:cNvPr id="5" name="Text 3"/>
          <p:cNvSpPr txBox="1"/>
          <p:nvPr/>
        </p:nvSpPr>
        <p:spPr>
          <a:xfrm>
            <a:off x="548640" y="3931920"/>
            <a:ext cx="5120640" cy="548640"/>
          </a:xfrm>
          <a:prstGeom prst="rect">
            <a:avLst/>
          </a:prstGeom>
          <a:noFill/>
          <a:ln/>
        </p:spPr>
        <p:txBody>
          <a:bodyPr wrap="square" lIns="0" tIns="0" rIns="0" bIns="0" rtlCol="0" anchor="ctr"/>
          <a:lstStyle/>
          <a:p>
            <a:pPr indent="0" marL="0">
              <a:buNone/>
            </a:pPr>
            <a:r>
              <a:rPr lang="en-US" sz="1100" dirty="0">
                <a:solidFill>
                  <a:srgbClr val="FFFFFF"/>
                </a:solidFill>
                <a:latin typeface="Meiryo" pitchFamily="34" charset="0"/>
                <a:ea typeface="Meiryo" pitchFamily="34" charset="-122"/>
                <a:cs typeface="Meiryo" pitchFamily="34" charset="-120"/>
              </a:rPr>
              <a:t>エントリー番号 51802　田中 真</a:t>
            </a:r>
            <a:endParaRPr lang="en-US" sz="1100" dirty="0"/>
          </a:p>
          <a:p>
            <a:pPr indent="0" marL="0">
              <a:buNone/>
            </a:pPr>
            <a:r>
              <a:rPr lang="en-US" sz="1100" dirty="0">
                <a:solidFill>
                  <a:srgbClr val="FFFFFF"/>
                </a:solidFill>
                <a:latin typeface="Meiryo" pitchFamily="34" charset="0"/>
                <a:ea typeface="Meiryo" pitchFamily="34" charset="-122"/>
                <a:cs typeface="Meiryo" pitchFamily="34" charset="-120"/>
              </a:rPr>
              <a:t>github.com/syouun/ek-ra8p1-blinky</a:t>
            </a:r>
            <a:endParaRPr lang="en-US" sz="1100" dirty="0"/>
          </a:p>
        </p:txBody>
      </p:sp>
      <p:sp>
        <p:nvSpPr>
          <p:cNvPr id="6" name="Shape 4"/>
          <p:cNvSpPr/>
          <p:nvPr/>
        </p:nvSpPr>
        <p:spPr>
          <a:xfrm>
            <a:off x="6126480" y="1325880"/>
            <a:ext cx="2468880" cy="548640"/>
          </a:xfrm>
          <a:prstGeom prst="roundRect">
            <a:avLst>
              <a:gd name="adj" fmla="val 50000"/>
            </a:avLst>
          </a:prstGeom>
          <a:solidFill>
            <a:srgbClr val="3E9E6B"/>
          </a:solidFill>
          <a:ln w="12700">
            <a:solidFill>
              <a:srgbClr val="3E9E6B"/>
            </a:solidFill>
            <a:prstDash val="solid"/>
          </a:ln>
        </p:spPr>
      </p:sp>
      <p:sp>
        <p:nvSpPr>
          <p:cNvPr id="7" name="Shape 5"/>
          <p:cNvSpPr/>
          <p:nvPr/>
        </p:nvSpPr>
        <p:spPr>
          <a:xfrm>
            <a:off x="6263640" y="1490472"/>
            <a:ext cx="219456" cy="219456"/>
          </a:xfrm>
          <a:prstGeom prst="ellipse">
            <a:avLst/>
          </a:prstGeom>
          <a:solidFill>
            <a:srgbClr val="FFFFFF"/>
          </a:solidFill>
          <a:ln w="12700">
            <a:solidFill>
              <a:srgbClr val="FFFFFF"/>
            </a:solidFill>
            <a:prstDash val="solid"/>
          </a:ln>
        </p:spPr>
      </p:sp>
      <p:sp>
        <p:nvSpPr>
          <p:cNvPr id="8" name="Text 6"/>
          <p:cNvSpPr txBox="1"/>
          <p:nvPr/>
        </p:nvSpPr>
        <p:spPr>
          <a:xfrm>
            <a:off x="6583680" y="1325880"/>
            <a:ext cx="1920240" cy="5486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SAFE</a:t>
            </a:r>
            <a:endParaRPr lang="en-US" sz="1400" dirty="0"/>
          </a:p>
        </p:txBody>
      </p:sp>
      <p:sp>
        <p:nvSpPr>
          <p:cNvPr id="9" name="Shape 7"/>
          <p:cNvSpPr/>
          <p:nvPr/>
        </p:nvSpPr>
        <p:spPr>
          <a:xfrm>
            <a:off x="6126480" y="2103120"/>
            <a:ext cx="2468880" cy="548640"/>
          </a:xfrm>
          <a:prstGeom prst="roundRect">
            <a:avLst>
              <a:gd name="adj" fmla="val 50000"/>
            </a:avLst>
          </a:prstGeom>
          <a:solidFill>
            <a:srgbClr val="E89B2F"/>
          </a:solidFill>
          <a:ln w="12700">
            <a:solidFill>
              <a:srgbClr val="E89B2F"/>
            </a:solidFill>
            <a:prstDash val="solid"/>
          </a:ln>
        </p:spPr>
      </p:sp>
      <p:sp>
        <p:nvSpPr>
          <p:cNvPr id="10" name="Shape 8"/>
          <p:cNvSpPr/>
          <p:nvPr/>
        </p:nvSpPr>
        <p:spPr>
          <a:xfrm>
            <a:off x="6263640" y="2267712"/>
            <a:ext cx="219456" cy="219456"/>
          </a:xfrm>
          <a:prstGeom prst="ellipse">
            <a:avLst/>
          </a:prstGeom>
          <a:solidFill>
            <a:srgbClr val="FFFFFF"/>
          </a:solidFill>
          <a:ln w="12700">
            <a:solidFill>
              <a:srgbClr val="FFFFFF"/>
            </a:solidFill>
            <a:prstDash val="solid"/>
          </a:ln>
        </p:spPr>
      </p:sp>
      <p:sp>
        <p:nvSpPr>
          <p:cNvPr id="11" name="Text 9"/>
          <p:cNvSpPr txBox="1"/>
          <p:nvPr/>
        </p:nvSpPr>
        <p:spPr>
          <a:xfrm>
            <a:off x="6583680" y="2103120"/>
            <a:ext cx="1920240" cy="5486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MONITORING</a:t>
            </a:r>
            <a:endParaRPr lang="en-US" sz="1400" dirty="0"/>
          </a:p>
        </p:txBody>
      </p:sp>
      <p:sp>
        <p:nvSpPr>
          <p:cNvPr id="12" name="Shape 10"/>
          <p:cNvSpPr/>
          <p:nvPr/>
        </p:nvSpPr>
        <p:spPr>
          <a:xfrm>
            <a:off x="6126480" y="2880360"/>
            <a:ext cx="2468880" cy="548640"/>
          </a:xfrm>
          <a:prstGeom prst="roundRect">
            <a:avLst>
              <a:gd name="adj" fmla="val 50000"/>
            </a:avLst>
          </a:prstGeom>
          <a:solidFill>
            <a:srgbClr val="D24B45"/>
          </a:solidFill>
          <a:ln w="12700">
            <a:solidFill>
              <a:srgbClr val="D24B45"/>
            </a:solidFill>
            <a:prstDash val="solid"/>
          </a:ln>
        </p:spPr>
      </p:sp>
      <p:sp>
        <p:nvSpPr>
          <p:cNvPr id="13" name="Shape 11"/>
          <p:cNvSpPr/>
          <p:nvPr/>
        </p:nvSpPr>
        <p:spPr>
          <a:xfrm>
            <a:off x="6263640" y="3044952"/>
            <a:ext cx="219456" cy="219456"/>
          </a:xfrm>
          <a:prstGeom prst="ellipse">
            <a:avLst/>
          </a:prstGeom>
          <a:solidFill>
            <a:srgbClr val="FFFFFF"/>
          </a:solidFill>
          <a:ln w="12700">
            <a:solidFill>
              <a:srgbClr val="FFFFFF"/>
            </a:solidFill>
            <a:prstDash val="solid"/>
          </a:ln>
        </p:spPr>
      </p:sp>
      <p:sp>
        <p:nvSpPr>
          <p:cNvPr id="14" name="Text 12"/>
          <p:cNvSpPr txBox="1"/>
          <p:nvPr/>
        </p:nvSpPr>
        <p:spPr>
          <a:xfrm>
            <a:off x="6583680" y="2880360"/>
            <a:ext cx="1920240" cy="5486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FALL DETECTED</a:t>
            </a:r>
            <a:endParaRPr lang="en-US" sz="1400" dirty="0"/>
          </a:p>
        </p:txBody>
      </p:sp>
      <p:sp>
        <p:nvSpPr>
          <p:cNvPr id="15" name="Text 13"/>
          <p:cNvSpPr txBox="1"/>
          <p:nvPr/>
        </p:nvSpPr>
        <p:spPr>
          <a:xfrm>
            <a:off x="6126480" y="3657600"/>
            <a:ext cx="2560320" cy="274320"/>
          </a:xfrm>
          <a:prstGeom prst="rect">
            <a:avLst/>
          </a:prstGeom>
          <a:noFill/>
          <a:ln/>
        </p:spPr>
        <p:txBody>
          <a:bodyPr wrap="square" lIns="0" tIns="0" rIns="0" bIns="0" rtlCol="0" anchor="ctr"/>
          <a:lstStyle/>
          <a:p>
            <a:pPr indent="0" marL="0">
              <a:buNone/>
            </a:pPr>
            <a:r>
              <a:rPr lang="en-US" sz="1000" dirty="0">
                <a:solidFill>
                  <a:srgbClr val="9CC8CC"/>
                </a:solidFill>
                <a:latin typeface="Meiryo" pitchFamily="34" charset="0"/>
                <a:ea typeface="Meiryo" pitchFamily="34" charset="-122"/>
                <a:cs typeface="Meiryo" pitchFamily="34" charset="-120"/>
              </a:rPr>
              <a:t>LCDには映像ではなく「状態」だけを表示</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F2A33"/>
                </a:solidFill>
                <a:latin typeface="Meiryo" pitchFamily="34" charset="0"/>
                <a:ea typeface="Meiryo" pitchFamily="34" charset="-122"/>
                <a:cs typeface="Meiryo" pitchFamily="34" charset="-120"/>
              </a:rPr>
              <a:t>課題：見守りとプライバシーのジレンマ</a:t>
            </a:r>
            <a:endParaRPr lang="en-US" sz="2400" dirty="0"/>
          </a:p>
        </p:txBody>
      </p:sp>
      <p:graphicFrame>
        <p:nvGraphicFramePr>
          <p:cNvPr id="3" name="Chart 0" descr=""/>
          <p:cNvGraphicFramePr/>
          <p:nvPr/>
        </p:nvGraphicFramePr>
        <p:xfrm>
          <a:off x="365760" y="1234440"/>
          <a:ext cx="4572000" cy="3200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480560"/>
            <a:ext cx="4572000" cy="274320"/>
          </a:xfrm>
          <a:prstGeom prst="rect">
            <a:avLst/>
          </a:prstGeom>
          <a:noFill/>
          <a:ln/>
        </p:spPr>
        <p:txBody>
          <a:bodyPr wrap="square" lIns="0" tIns="0" rIns="0" bIns="0" rtlCol="0" anchor="ctr"/>
          <a:lstStyle/>
          <a:p>
            <a:pPr indent="0" marL="0">
              <a:buNone/>
            </a:pPr>
            <a:r>
              <a:rPr lang="en-US" sz="800" dirty="0">
                <a:solidFill>
                  <a:srgbClr val="5B6B70"/>
                </a:solidFill>
                <a:latin typeface="Meiryo" pitchFamily="34" charset="0"/>
                <a:ea typeface="Meiryo" pitchFamily="34" charset="-122"/>
                <a:cs typeface="Meiryo" pitchFamily="34" charset="-120"/>
              </a:rPr>
              <a:t>出典：消費者庁「高齢者の事故に関するデータ」（厚生労働省 人口動態調査より、2022年12月）</a:t>
            </a:r>
            <a:endParaRPr lang="en-US" sz="800" dirty="0"/>
          </a:p>
        </p:txBody>
      </p:sp>
      <p:sp>
        <p:nvSpPr>
          <p:cNvPr id="5" name="Shape 2"/>
          <p:cNvSpPr/>
          <p:nvPr/>
        </p:nvSpPr>
        <p:spPr>
          <a:xfrm>
            <a:off x="5303520" y="1234440"/>
            <a:ext cx="3383280" cy="1463040"/>
          </a:xfrm>
          <a:prstGeom prst="roundRect">
            <a:avLst>
              <a:gd name="adj" fmla="val 5000"/>
            </a:avLst>
          </a:prstGeom>
          <a:solidFill>
            <a:srgbClr val="E3F0F1"/>
          </a:solidFill>
          <a:ln w="9525">
            <a:solidFill>
              <a:srgbClr val="C9D6D8"/>
            </a:solidFill>
            <a:prstDash val="solid"/>
          </a:ln>
        </p:spPr>
      </p:sp>
      <p:sp>
        <p:nvSpPr>
          <p:cNvPr id="6" name="Text 3"/>
          <p:cNvSpPr txBox="1"/>
          <p:nvPr/>
        </p:nvSpPr>
        <p:spPr>
          <a:xfrm>
            <a:off x="5486400" y="1325880"/>
            <a:ext cx="3017520" cy="548640"/>
          </a:xfrm>
          <a:prstGeom prst="rect">
            <a:avLst/>
          </a:prstGeom>
          <a:noFill/>
          <a:ln/>
        </p:spPr>
        <p:txBody>
          <a:bodyPr wrap="square" lIns="0" tIns="0" rIns="0" bIns="0" rtlCol="0" anchor="ctr"/>
          <a:lstStyle/>
          <a:p>
            <a:pPr indent="0" marL="0">
              <a:buNone/>
            </a:pPr>
            <a:r>
              <a:rPr lang="en-US" sz="3000" b="1" dirty="0">
                <a:solidFill>
                  <a:srgbClr val="1F6F78"/>
                </a:solidFill>
                <a:latin typeface="Meiryo" pitchFamily="34" charset="0"/>
                <a:ea typeface="Meiryo" pitchFamily="34" charset="-122"/>
                <a:cs typeface="Meiryo" pitchFamily="34" charset="-120"/>
              </a:rPr>
              <a:t>約4.4倍</a:t>
            </a:r>
            <a:endParaRPr lang="en-US" sz="3000" dirty="0"/>
          </a:p>
        </p:txBody>
      </p:sp>
      <p:sp>
        <p:nvSpPr>
          <p:cNvPr id="7" name="Text 4"/>
          <p:cNvSpPr txBox="1"/>
          <p:nvPr/>
        </p:nvSpPr>
        <p:spPr>
          <a:xfrm>
            <a:off x="5486400" y="1874520"/>
            <a:ext cx="3017520" cy="731520"/>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転倒・転落による死亡は交通事故の4倍以上。発見の遅れが重症化につながる。</a:t>
            </a:r>
            <a:endParaRPr lang="en-US" sz="1100" dirty="0"/>
          </a:p>
        </p:txBody>
      </p:sp>
      <p:sp>
        <p:nvSpPr>
          <p:cNvPr id="8" name="Shape 5"/>
          <p:cNvSpPr/>
          <p:nvPr/>
        </p:nvSpPr>
        <p:spPr>
          <a:xfrm>
            <a:off x="5303520" y="2926080"/>
            <a:ext cx="3383280" cy="1463040"/>
          </a:xfrm>
          <a:prstGeom prst="roundRect">
            <a:avLst>
              <a:gd name="adj" fmla="val 5000"/>
            </a:avLst>
          </a:prstGeom>
          <a:solidFill>
            <a:srgbClr val="FFFFFF"/>
          </a:solidFill>
          <a:ln w="9525">
            <a:solidFill>
              <a:srgbClr val="C9D6D8"/>
            </a:solidFill>
            <a:prstDash val="solid"/>
          </a:ln>
        </p:spPr>
      </p:sp>
      <p:sp>
        <p:nvSpPr>
          <p:cNvPr id="9" name="Text 6"/>
          <p:cNvSpPr txBox="1"/>
          <p:nvPr/>
        </p:nvSpPr>
        <p:spPr>
          <a:xfrm>
            <a:off x="5486400" y="3017520"/>
            <a:ext cx="3017520" cy="365760"/>
          </a:xfrm>
          <a:prstGeom prst="rect">
            <a:avLst/>
          </a:prstGeom>
          <a:noFill/>
          <a:ln/>
        </p:spPr>
        <p:txBody>
          <a:bodyPr wrap="square" lIns="0" tIns="0" rIns="0" bIns="0" rtlCol="0" anchor="ctr"/>
          <a:lstStyle/>
          <a:p>
            <a:pPr indent="0" marL="0">
              <a:buNone/>
            </a:pPr>
            <a:r>
              <a:rPr lang="en-US" sz="1400" b="1" dirty="0">
                <a:solidFill>
                  <a:srgbClr val="D24B45"/>
                </a:solidFill>
                <a:latin typeface="Meiryo" pitchFamily="34" charset="0"/>
                <a:ea typeface="Meiryo" pitchFamily="34" charset="-122"/>
                <a:cs typeface="Meiryo" pitchFamily="34" charset="-120"/>
              </a:rPr>
              <a:t>でも、カメラで見られたくない</a:t>
            </a:r>
            <a:endParaRPr lang="en-US" sz="1400" dirty="0"/>
          </a:p>
        </p:txBody>
      </p:sp>
      <p:sp>
        <p:nvSpPr>
          <p:cNvPr id="10" name="Text 7"/>
          <p:cNvSpPr txBox="1"/>
          <p:nvPr/>
        </p:nvSpPr>
        <p:spPr>
          <a:xfrm>
            <a:off x="5486400" y="3429000"/>
            <a:ext cx="3017520" cy="914400"/>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居室や浴室に映像を記録・送信するカメラは、見守られる本人の心理的抵抗が大きい。通信環境にも左右される。</a:t>
            </a:r>
            <a:endParaRPr lang="en-US" sz="1100" dirty="0"/>
          </a:p>
        </p:txBody>
      </p:sp>
      <p:sp>
        <p:nvSpPr>
          <p:cNvPr id="11" name="Text 8"/>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B6B70"/>
                </a:solidFill>
                <a:latin typeface="Meiryo" pitchFamily="34" charset="0"/>
                <a:ea typeface="Meiryo" pitchFamily="34" charset="-122"/>
                <a:cs typeface="Meiry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F2A33"/>
                </a:solidFill>
                <a:latin typeface="Meiryo" pitchFamily="34" charset="0"/>
                <a:ea typeface="Meiryo" pitchFamily="34" charset="-122"/>
                <a:cs typeface="Meiryo" pitchFamily="34" charset="-120"/>
              </a:rPr>
              <a:t>アプローチ：マイコンの中で完結させる</a:t>
            </a:r>
            <a:endParaRPr lang="en-US" sz="24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dirty="0">
                <a:solidFill>
                  <a:srgbClr val="5B6B70"/>
                </a:solidFill>
                <a:latin typeface="Meiryo" pitchFamily="34" charset="0"/>
                <a:ea typeface="Meiryo" pitchFamily="34" charset="-122"/>
                <a:cs typeface="Meiryo" pitchFamily="34" charset="-120"/>
              </a:rPr>
              <a:t>見て、判断して、知らせるまでを 1 枚のボードで</a:t>
            </a:r>
            <a:endParaRPr lang="en-US" sz="1200" dirty="0"/>
          </a:p>
        </p:txBody>
      </p:sp>
      <p:sp>
        <p:nvSpPr>
          <p:cNvPr id="4" name="Shape 2"/>
          <p:cNvSpPr/>
          <p:nvPr/>
        </p:nvSpPr>
        <p:spPr>
          <a:xfrm>
            <a:off x="457200" y="1371600"/>
            <a:ext cx="2606040" cy="2651760"/>
          </a:xfrm>
          <a:prstGeom prst="roundRect">
            <a:avLst>
              <a:gd name="adj" fmla="val 2807"/>
            </a:avLst>
          </a:prstGeom>
          <a:solidFill>
            <a:srgbClr val="FFFFFF"/>
          </a:solidFill>
          <a:ln w="9525">
            <a:solidFill>
              <a:srgbClr val="C9D6D8"/>
            </a:solidFill>
            <a:prstDash val="solid"/>
          </a:ln>
        </p:spPr>
      </p:sp>
      <p:sp>
        <p:nvSpPr>
          <p:cNvPr id="5" name="Shape 3"/>
          <p:cNvSpPr/>
          <p:nvPr/>
        </p:nvSpPr>
        <p:spPr>
          <a:xfrm>
            <a:off x="685800" y="1600200"/>
            <a:ext cx="685800" cy="685800"/>
          </a:xfrm>
          <a:prstGeom prst="ellipse">
            <a:avLst/>
          </a:prstGeom>
          <a:solidFill>
            <a:srgbClr val="1F6F78"/>
          </a:solidFill>
          <a:ln w="12700">
            <a:solidFill>
              <a:srgbClr val="1F6F78"/>
            </a:solidFill>
            <a:prstDash val="solid"/>
          </a:ln>
        </p:spPr>
      </p:sp>
      <p:pic>
        <p:nvPicPr>
          <p:cNvPr id="6" name="Image 0" descr="preencoded.png">    </p:cNvPr>
          <p:cNvPicPr>
            <a:picLocks noChangeAspect="1"/>
          </p:cNvPicPr>
          <p:nvPr/>
        </p:nvPicPr>
        <p:blipFill>
          <a:blip r:embed="rId1"/>
          <a:stretch>
            <a:fillRect/>
          </a:stretch>
        </p:blipFill>
        <p:spPr>
          <a:xfrm>
            <a:off x="836676" y="1751076"/>
            <a:ext cx="384048" cy="384048"/>
          </a:xfrm>
          <a:prstGeom prst="rect">
            <a:avLst/>
          </a:prstGeom>
        </p:spPr>
      </p:pic>
      <p:sp>
        <p:nvSpPr>
          <p:cNvPr id="7" name="Text 4"/>
          <p:cNvSpPr txBox="1"/>
          <p:nvPr/>
        </p:nvSpPr>
        <p:spPr>
          <a:xfrm>
            <a:off x="685800" y="2468880"/>
            <a:ext cx="2194560" cy="411480"/>
          </a:xfrm>
          <a:prstGeom prst="rect">
            <a:avLst/>
          </a:prstGeom>
          <a:noFill/>
          <a:ln/>
        </p:spPr>
        <p:txBody>
          <a:bodyPr wrap="square" lIns="0" tIns="0" rIns="0" bIns="0" rtlCol="0" anchor="ctr"/>
          <a:lstStyle/>
          <a:p>
            <a:pPr indent="0" marL="0">
              <a:buNone/>
            </a:pPr>
            <a:r>
              <a:rPr lang="en-US" sz="1500" b="1" dirty="0">
                <a:solidFill>
                  <a:srgbClr val="0F2A33"/>
                </a:solidFill>
                <a:latin typeface="Meiryo" pitchFamily="34" charset="0"/>
                <a:ea typeface="Meiryo" pitchFamily="34" charset="-122"/>
                <a:cs typeface="Meiryo" pitchFamily="34" charset="-120"/>
              </a:rPr>
              <a:t>映像を外に出さない</a:t>
            </a:r>
            <a:endParaRPr lang="en-US" sz="1500" dirty="0"/>
          </a:p>
        </p:txBody>
      </p:sp>
      <p:sp>
        <p:nvSpPr>
          <p:cNvPr id="8" name="Text 5"/>
          <p:cNvSpPr txBox="1"/>
          <p:nvPr/>
        </p:nvSpPr>
        <p:spPr>
          <a:xfrm>
            <a:off x="685800" y="2926080"/>
            <a:ext cx="2194560" cy="1325880"/>
          </a:xfrm>
          <a:prstGeom prst="rect">
            <a:avLst/>
          </a:prstGeom>
          <a:noFill/>
          <a:ln/>
        </p:spPr>
        <p:txBody>
          <a:bodyPr wrap="square" lIns="0" tIns="0" rIns="0" bIns="0" rtlCol="0" anchor="t"/>
          <a:lstStyle/>
          <a:p>
            <a:pPr indent="0" marL="0">
              <a:buNone/>
            </a:pPr>
            <a:r>
              <a:rPr lang="en-US" sz="1100" dirty="0">
                <a:solidFill>
                  <a:srgbClr val="1B2B30"/>
                </a:solidFill>
                <a:latin typeface="Meiryo" pitchFamily="34" charset="0"/>
                <a:ea typeface="Meiryo" pitchFamily="34" charset="-122"/>
                <a:cs typeface="Meiryo" pitchFamily="34" charset="-120"/>
              </a:rPr>
              <a:t>カメラ映像はマイコン内のメモリだけで処理。LCDにも生映像は出さず、状態と検出枠だけを表示する。</a:t>
            </a:r>
            <a:endParaRPr lang="en-US" sz="1100" dirty="0"/>
          </a:p>
        </p:txBody>
      </p:sp>
      <p:sp>
        <p:nvSpPr>
          <p:cNvPr id="9" name="Shape 6"/>
          <p:cNvSpPr/>
          <p:nvPr/>
        </p:nvSpPr>
        <p:spPr>
          <a:xfrm>
            <a:off x="3291840" y="1371600"/>
            <a:ext cx="2606040" cy="2651760"/>
          </a:xfrm>
          <a:prstGeom prst="roundRect">
            <a:avLst>
              <a:gd name="adj" fmla="val 2807"/>
            </a:avLst>
          </a:prstGeom>
          <a:solidFill>
            <a:srgbClr val="FFFFFF"/>
          </a:solidFill>
          <a:ln w="9525">
            <a:solidFill>
              <a:srgbClr val="C9D6D8"/>
            </a:solidFill>
            <a:prstDash val="solid"/>
          </a:ln>
        </p:spPr>
      </p:sp>
      <p:sp>
        <p:nvSpPr>
          <p:cNvPr id="10" name="Shape 7"/>
          <p:cNvSpPr/>
          <p:nvPr/>
        </p:nvSpPr>
        <p:spPr>
          <a:xfrm>
            <a:off x="3520440" y="1600200"/>
            <a:ext cx="685800" cy="685800"/>
          </a:xfrm>
          <a:prstGeom prst="ellipse">
            <a:avLst/>
          </a:prstGeom>
          <a:solidFill>
            <a:srgbClr val="D24B45"/>
          </a:solidFill>
          <a:ln w="12700">
            <a:solidFill>
              <a:srgbClr val="D24B45"/>
            </a:solidFill>
            <a:prstDash val="solid"/>
          </a:ln>
        </p:spPr>
      </p:sp>
      <p:pic>
        <p:nvPicPr>
          <p:cNvPr id="11" name="Image 1" descr="preencoded.png">    </p:cNvPr>
          <p:cNvPicPr>
            <a:picLocks noChangeAspect="1"/>
          </p:cNvPicPr>
          <p:nvPr/>
        </p:nvPicPr>
        <p:blipFill>
          <a:blip r:embed="rId2"/>
          <a:stretch>
            <a:fillRect/>
          </a:stretch>
        </p:blipFill>
        <p:spPr>
          <a:xfrm>
            <a:off x="3671316" y="1751076"/>
            <a:ext cx="384048" cy="384048"/>
          </a:xfrm>
          <a:prstGeom prst="rect">
            <a:avLst/>
          </a:prstGeom>
        </p:spPr>
      </p:pic>
      <p:sp>
        <p:nvSpPr>
          <p:cNvPr id="12" name="Text 8"/>
          <p:cNvSpPr txBox="1"/>
          <p:nvPr/>
        </p:nvSpPr>
        <p:spPr>
          <a:xfrm>
            <a:off x="3520440" y="2468880"/>
            <a:ext cx="2194560" cy="411480"/>
          </a:xfrm>
          <a:prstGeom prst="rect">
            <a:avLst/>
          </a:prstGeom>
          <a:noFill/>
          <a:ln/>
        </p:spPr>
        <p:txBody>
          <a:bodyPr wrap="square" lIns="0" tIns="0" rIns="0" bIns="0" rtlCol="0" anchor="ctr"/>
          <a:lstStyle/>
          <a:p>
            <a:pPr indent="0" marL="0">
              <a:buNone/>
            </a:pPr>
            <a:r>
              <a:rPr lang="en-US" sz="1500" b="1" dirty="0">
                <a:solidFill>
                  <a:srgbClr val="0F2A33"/>
                </a:solidFill>
                <a:latin typeface="Meiryo" pitchFamily="34" charset="0"/>
                <a:ea typeface="Meiryo" pitchFamily="34" charset="-122"/>
                <a:cs typeface="Meiryo" pitchFamily="34" charset="-120"/>
              </a:rPr>
              <a:t>RTOSで即応する</a:t>
            </a:r>
            <a:endParaRPr lang="en-US" sz="1500" dirty="0"/>
          </a:p>
        </p:txBody>
      </p:sp>
      <p:sp>
        <p:nvSpPr>
          <p:cNvPr id="13" name="Text 9"/>
          <p:cNvSpPr txBox="1"/>
          <p:nvPr/>
        </p:nvSpPr>
        <p:spPr>
          <a:xfrm>
            <a:off x="3520440" y="2926080"/>
            <a:ext cx="2194560" cy="1325880"/>
          </a:xfrm>
          <a:prstGeom prst="rect">
            <a:avLst/>
          </a:prstGeom>
          <a:noFill/>
          <a:ln/>
        </p:spPr>
        <p:txBody>
          <a:bodyPr wrap="square" lIns="0" tIns="0" rIns="0" bIns="0" rtlCol="0" anchor="t"/>
          <a:lstStyle/>
          <a:p>
            <a:pPr indent="0" marL="0">
              <a:buNone/>
            </a:pPr>
            <a:r>
              <a:rPr lang="en-US" sz="1100" dirty="0">
                <a:solidFill>
                  <a:srgbClr val="1B2B30"/>
                </a:solidFill>
                <a:latin typeface="Meiryo" pitchFamily="34" charset="0"/>
                <a:ea typeface="Meiryo" pitchFamily="34" charset="-122"/>
                <a:cs typeface="Meiryo" pitchFamily="34" charset="-120"/>
              </a:rPr>
              <a:t>μT-Kernel 3.0 の優先度スケジューリングで、転倒確定から通知までの遅延を小さく、ばらつきなく保つ。</a:t>
            </a:r>
            <a:endParaRPr lang="en-US" sz="1100" dirty="0"/>
          </a:p>
        </p:txBody>
      </p:sp>
      <p:sp>
        <p:nvSpPr>
          <p:cNvPr id="14" name="Shape 10"/>
          <p:cNvSpPr/>
          <p:nvPr/>
        </p:nvSpPr>
        <p:spPr>
          <a:xfrm>
            <a:off x="6126480" y="1371600"/>
            <a:ext cx="2606040" cy="2651760"/>
          </a:xfrm>
          <a:prstGeom prst="roundRect">
            <a:avLst>
              <a:gd name="adj" fmla="val 2807"/>
            </a:avLst>
          </a:prstGeom>
          <a:solidFill>
            <a:srgbClr val="FFFFFF"/>
          </a:solidFill>
          <a:ln w="9525">
            <a:solidFill>
              <a:srgbClr val="C9D6D8"/>
            </a:solidFill>
            <a:prstDash val="solid"/>
          </a:ln>
        </p:spPr>
      </p:sp>
      <p:sp>
        <p:nvSpPr>
          <p:cNvPr id="15" name="Shape 11"/>
          <p:cNvSpPr/>
          <p:nvPr/>
        </p:nvSpPr>
        <p:spPr>
          <a:xfrm>
            <a:off x="6355080" y="1600200"/>
            <a:ext cx="685800" cy="685800"/>
          </a:xfrm>
          <a:prstGeom prst="ellipse">
            <a:avLst/>
          </a:prstGeom>
          <a:solidFill>
            <a:srgbClr val="E89B2F"/>
          </a:solidFill>
          <a:ln w="12700">
            <a:solidFill>
              <a:srgbClr val="E89B2F"/>
            </a:solidFill>
            <a:prstDash val="solid"/>
          </a:ln>
        </p:spPr>
      </p:sp>
      <p:pic>
        <p:nvPicPr>
          <p:cNvPr id="16" name="Image 2" descr="preencoded.png">    </p:cNvPr>
          <p:cNvPicPr>
            <a:picLocks noChangeAspect="1"/>
          </p:cNvPicPr>
          <p:nvPr/>
        </p:nvPicPr>
        <p:blipFill>
          <a:blip r:embed="rId3"/>
          <a:stretch>
            <a:fillRect/>
          </a:stretch>
        </p:blipFill>
        <p:spPr>
          <a:xfrm>
            <a:off x="6505956" y="1751076"/>
            <a:ext cx="384048" cy="384048"/>
          </a:xfrm>
          <a:prstGeom prst="rect">
            <a:avLst/>
          </a:prstGeom>
        </p:spPr>
      </p:pic>
      <p:sp>
        <p:nvSpPr>
          <p:cNvPr id="17" name="Text 12"/>
          <p:cNvSpPr txBox="1"/>
          <p:nvPr/>
        </p:nvSpPr>
        <p:spPr>
          <a:xfrm>
            <a:off x="6355080" y="2468880"/>
            <a:ext cx="2194560" cy="411480"/>
          </a:xfrm>
          <a:prstGeom prst="rect">
            <a:avLst/>
          </a:prstGeom>
          <a:noFill/>
          <a:ln/>
        </p:spPr>
        <p:txBody>
          <a:bodyPr wrap="square" lIns="0" tIns="0" rIns="0" bIns="0" rtlCol="0" anchor="ctr"/>
          <a:lstStyle/>
          <a:p>
            <a:pPr indent="0" marL="0">
              <a:buNone/>
            </a:pPr>
            <a:r>
              <a:rPr lang="en-US" sz="1500" b="1" dirty="0">
                <a:solidFill>
                  <a:srgbClr val="0F2A33"/>
                </a:solidFill>
                <a:latin typeface="Meiryo" pitchFamily="34" charset="0"/>
                <a:ea typeface="Meiryo" pitchFamily="34" charset="-122"/>
                <a:cs typeface="Meiryo" pitchFamily="34" charset="-120"/>
              </a:rPr>
              <a:t>NPU＋単体動作</a:t>
            </a:r>
            <a:endParaRPr lang="en-US" sz="1500" dirty="0"/>
          </a:p>
        </p:txBody>
      </p:sp>
      <p:sp>
        <p:nvSpPr>
          <p:cNvPr id="18" name="Text 13"/>
          <p:cNvSpPr txBox="1"/>
          <p:nvPr/>
        </p:nvSpPr>
        <p:spPr>
          <a:xfrm>
            <a:off x="6355080" y="2926080"/>
            <a:ext cx="2194560" cy="1325880"/>
          </a:xfrm>
          <a:prstGeom prst="rect">
            <a:avLst/>
          </a:prstGeom>
          <a:noFill/>
          <a:ln/>
        </p:spPr>
        <p:txBody>
          <a:bodyPr wrap="square" lIns="0" tIns="0" rIns="0" bIns="0" rtlCol="0" anchor="t"/>
          <a:lstStyle/>
          <a:p>
            <a:pPr indent="0" marL="0">
              <a:buNone/>
            </a:pPr>
            <a:r>
              <a:rPr lang="en-US" sz="1100" dirty="0">
                <a:solidFill>
                  <a:srgbClr val="1B2B30"/>
                </a:solidFill>
                <a:latin typeface="Meiryo" pitchFamily="34" charset="0"/>
                <a:ea typeface="Meiryo" pitchFamily="34" charset="-122"/>
                <a:cs typeface="Meiryo" pitchFamily="34" charset="-120"/>
              </a:rPr>
              <a:t>画像認識は Ethos-U55 NPU に任せて CPU を空ける。ネットワーク不要、キット同梱品だけで動作。</a:t>
            </a:r>
            <a:endParaRPr lang="en-US" sz="1100" dirty="0"/>
          </a:p>
        </p:txBody>
      </p:sp>
      <p:sp>
        <p:nvSpPr>
          <p:cNvPr id="19" name="Text 14"/>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B6B70"/>
                </a:solidFill>
                <a:latin typeface="Meiryo" pitchFamily="34" charset="0"/>
                <a:ea typeface="Meiryo" pitchFamily="34" charset="-122"/>
                <a:cs typeface="Meiry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F2A33"/>
                </a:solidFill>
                <a:latin typeface="Meiryo" pitchFamily="34" charset="0"/>
                <a:ea typeface="Meiryo" pitchFamily="34" charset="-122"/>
                <a:cs typeface="Meiryo" pitchFamily="34" charset="-120"/>
              </a:rPr>
              <a:t>システム構成</a:t>
            </a:r>
            <a:endParaRPr lang="en-US" sz="24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dirty="0">
                <a:solidFill>
                  <a:srgbClr val="5B6B70"/>
                </a:solidFill>
                <a:latin typeface="Meiryo" pitchFamily="34" charset="0"/>
                <a:ea typeface="Meiryo" pitchFamily="34" charset="-122"/>
                <a:cs typeface="Meiryo" pitchFamily="34" charset="-120"/>
              </a:rPr>
              <a:t>EK-RA8P1（Cortex-M85 1GHz ＋ Ethos-U55）の上で μT-Kernel 3.0 と Renesas FSP ドライバを組み合わせる</a:t>
            </a:r>
            <a:endParaRPr lang="en-US" sz="1200" dirty="0"/>
          </a:p>
        </p:txBody>
      </p:sp>
      <p:sp>
        <p:nvSpPr>
          <p:cNvPr id="4" name="Shape 2"/>
          <p:cNvSpPr/>
          <p:nvPr/>
        </p:nvSpPr>
        <p:spPr>
          <a:xfrm>
            <a:off x="457200" y="1463040"/>
            <a:ext cx="1280160" cy="822960"/>
          </a:xfrm>
          <a:prstGeom prst="roundRect">
            <a:avLst>
              <a:gd name="adj" fmla="val 8889"/>
            </a:avLst>
          </a:prstGeom>
          <a:solidFill>
            <a:srgbClr val="0F2A33"/>
          </a:solidFill>
          <a:ln w="12700">
            <a:solidFill>
              <a:srgbClr val="0F2A33"/>
            </a:solidFill>
            <a:prstDash val="solid"/>
          </a:ln>
        </p:spPr>
      </p:sp>
      <p:sp>
        <p:nvSpPr>
          <p:cNvPr id="5" name="Text 3"/>
          <p:cNvSpPr txBox="1"/>
          <p:nvPr/>
        </p:nvSpPr>
        <p:spPr>
          <a:xfrm>
            <a:off x="502920" y="1463040"/>
            <a:ext cx="118872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OV5640</a:t>
            </a:r>
            <a:endParaRPr lang="en-US" sz="1200" dirty="0"/>
          </a:p>
          <a:p>
            <a:pPr algn="ctr" indent="0" marL="0">
              <a:buNone/>
            </a:pPr>
            <a:r>
              <a:rPr lang="en-US" sz="900" dirty="0">
                <a:solidFill>
                  <a:srgbClr val="FFFFFF"/>
                </a:solidFill>
                <a:latin typeface="Meiryo" pitchFamily="34" charset="0"/>
                <a:ea typeface="Meiryo" pitchFamily="34" charset="-122"/>
                <a:cs typeface="Meiryo" pitchFamily="34" charset="-120"/>
              </a:rPr>
              <a:t>カメラ 640×480</a:t>
            </a:r>
            <a:endParaRPr lang="en-US" sz="1200" dirty="0"/>
          </a:p>
        </p:txBody>
      </p:sp>
      <p:sp>
        <p:nvSpPr>
          <p:cNvPr id="6" name="Shape 4"/>
          <p:cNvSpPr/>
          <p:nvPr/>
        </p:nvSpPr>
        <p:spPr>
          <a:xfrm>
            <a:off x="2103120" y="1463040"/>
            <a:ext cx="1371600" cy="822960"/>
          </a:xfrm>
          <a:prstGeom prst="roundRect">
            <a:avLst>
              <a:gd name="adj" fmla="val 8889"/>
            </a:avLst>
          </a:prstGeom>
          <a:solidFill>
            <a:srgbClr val="1F6F78"/>
          </a:solidFill>
          <a:ln w="12700">
            <a:solidFill>
              <a:srgbClr val="1F6F78"/>
            </a:solidFill>
            <a:prstDash val="solid"/>
          </a:ln>
        </p:spPr>
      </p:sp>
      <p:sp>
        <p:nvSpPr>
          <p:cNvPr id="7" name="Text 5"/>
          <p:cNvSpPr txBox="1"/>
          <p:nvPr/>
        </p:nvSpPr>
        <p:spPr>
          <a:xfrm>
            <a:off x="2148840" y="1463040"/>
            <a:ext cx="128016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VIN / MIPI CSI</a:t>
            </a:r>
            <a:endParaRPr lang="en-US" sz="1200" dirty="0"/>
          </a:p>
          <a:p>
            <a:pPr algn="ctr" indent="0" marL="0">
              <a:buNone/>
            </a:pPr>
            <a:r>
              <a:rPr lang="en-US" sz="900" dirty="0">
                <a:solidFill>
                  <a:srgbClr val="FFFFFF"/>
                </a:solidFill>
                <a:latin typeface="Meiryo" pitchFamily="34" charset="0"/>
                <a:ea typeface="Meiryo" pitchFamily="34" charset="-122"/>
                <a:cs typeface="Meiryo" pitchFamily="34" charset="-120"/>
              </a:rPr>
              <a:t>フレーム取得</a:t>
            </a:r>
            <a:endParaRPr lang="en-US" sz="1200" dirty="0"/>
          </a:p>
        </p:txBody>
      </p:sp>
      <p:sp>
        <p:nvSpPr>
          <p:cNvPr id="8" name="Shape 6"/>
          <p:cNvSpPr/>
          <p:nvPr/>
        </p:nvSpPr>
        <p:spPr>
          <a:xfrm>
            <a:off x="3840480" y="1463040"/>
            <a:ext cx="1463040" cy="822960"/>
          </a:xfrm>
          <a:prstGeom prst="roundRect">
            <a:avLst>
              <a:gd name="adj" fmla="val 8889"/>
            </a:avLst>
          </a:prstGeom>
          <a:solidFill>
            <a:srgbClr val="1F6F78"/>
          </a:solidFill>
          <a:ln w="12700">
            <a:solidFill>
              <a:srgbClr val="1F6F78"/>
            </a:solidFill>
            <a:prstDash val="solid"/>
          </a:ln>
        </p:spPr>
      </p:sp>
      <p:sp>
        <p:nvSpPr>
          <p:cNvPr id="9" name="Text 7"/>
          <p:cNvSpPr txBox="1"/>
          <p:nvPr/>
        </p:nvSpPr>
        <p:spPr>
          <a:xfrm>
            <a:off x="3886200" y="1463040"/>
            <a:ext cx="137160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前処理 (CM85)</a:t>
            </a:r>
            <a:endParaRPr lang="en-US" sz="1200" dirty="0"/>
          </a:p>
          <a:p>
            <a:pPr algn="ctr" indent="0" marL="0">
              <a:buNone/>
            </a:pPr>
            <a:r>
              <a:rPr lang="en-US" sz="900" dirty="0">
                <a:solidFill>
                  <a:srgbClr val="FFFFFF"/>
                </a:solidFill>
                <a:latin typeface="Meiryo" pitchFamily="34" charset="0"/>
                <a:ea typeface="Meiryo" pitchFamily="34" charset="-122"/>
                <a:cs typeface="Meiryo" pitchFamily="34" charset="-120"/>
              </a:rPr>
              <a:t>RGB565→INT8 192×192</a:t>
            </a:r>
            <a:endParaRPr lang="en-US" sz="1200" dirty="0"/>
          </a:p>
        </p:txBody>
      </p:sp>
      <p:sp>
        <p:nvSpPr>
          <p:cNvPr id="10" name="Shape 8"/>
          <p:cNvSpPr/>
          <p:nvPr/>
        </p:nvSpPr>
        <p:spPr>
          <a:xfrm>
            <a:off x="5669280" y="1463040"/>
            <a:ext cx="1371600" cy="822960"/>
          </a:xfrm>
          <a:prstGeom prst="roundRect">
            <a:avLst>
              <a:gd name="adj" fmla="val 8889"/>
            </a:avLst>
          </a:prstGeom>
          <a:solidFill>
            <a:srgbClr val="E89B2F"/>
          </a:solidFill>
          <a:ln w="12700">
            <a:solidFill>
              <a:srgbClr val="E89B2F"/>
            </a:solidFill>
            <a:prstDash val="solid"/>
          </a:ln>
        </p:spPr>
      </p:sp>
      <p:sp>
        <p:nvSpPr>
          <p:cNvPr id="11" name="Text 9"/>
          <p:cNvSpPr txBox="1"/>
          <p:nvPr/>
        </p:nvSpPr>
        <p:spPr>
          <a:xfrm>
            <a:off x="5715000" y="1463040"/>
            <a:ext cx="128016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Ethos-U55</a:t>
            </a:r>
            <a:endParaRPr lang="en-US" sz="1200" dirty="0"/>
          </a:p>
          <a:p>
            <a:pPr algn="ctr" indent="0" marL="0">
              <a:buNone/>
            </a:pPr>
            <a:r>
              <a:rPr lang="en-US" sz="900" dirty="0">
                <a:solidFill>
                  <a:srgbClr val="FFFFFF"/>
                </a:solidFill>
                <a:latin typeface="Meiryo" pitchFamily="34" charset="0"/>
                <a:ea typeface="Meiryo" pitchFamily="34" charset="-122"/>
                <a:cs typeface="Meiryo" pitchFamily="34" charset="-120"/>
              </a:rPr>
              <a:t>YOLO-fastest 推論</a:t>
            </a:r>
            <a:endParaRPr lang="en-US" sz="1200" dirty="0"/>
          </a:p>
        </p:txBody>
      </p:sp>
      <p:sp>
        <p:nvSpPr>
          <p:cNvPr id="12" name="Shape 10"/>
          <p:cNvSpPr/>
          <p:nvPr/>
        </p:nvSpPr>
        <p:spPr>
          <a:xfrm>
            <a:off x="7406640" y="1463040"/>
            <a:ext cx="1280160" cy="822960"/>
          </a:xfrm>
          <a:prstGeom prst="roundRect">
            <a:avLst>
              <a:gd name="adj" fmla="val 8889"/>
            </a:avLst>
          </a:prstGeom>
          <a:solidFill>
            <a:srgbClr val="1F6F78"/>
          </a:solidFill>
          <a:ln w="12700">
            <a:solidFill>
              <a:srgbClr val="1F6F78"/>
            </a:solidFill>
            <a:prstDash val="solid"/>
          </a:ln>
        </p:spPr>
      </p:sp>
      <p:sp>
        <p:nvSpPr>
          <p:cNvPr id="13" name="Text 11"/>
          <p:cNvSpPr txBox="1"/>
          <p:nvPr/>
        </p:nvSpPr>
        <p:spPr>
          <a:xfrm>
            <a:off x="7452360" y="1463040"/>
            <a:ext cx="118872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後処理・判定</a:t>
            </a:r>
            <a:endParaRPr lang="en-US" sz="1200" dirty="0"/>
          </a:p>
          <a:p>
            <a:pPr algn="ctr" indent="0" marL="0">
              <a:buNone/>
            </a:pPr>
            <a:r>
              <a:rPr lang="en-US" sz="900" dirty="0">
                <a:solidFill>
                  <a:srgbClr val="FFFFFF"/>
                </a:solidFill>
                <a:latin typeface="Meiryo" pitchFamily="34" charset="0"/>
                <a:ea typeface="Meiryo" pitchFamily="34" charset="-122"/>
                <a:cs typeface="Meiryo" pitchFamily="34" charset="-120"/>
              </a:rPr>
              <a:t>検出枠 → 状態</a:t>
            </a:r>
            <a:endParaRPr lang="en-US" sz="1200" dirty="0"/>
          </a:p>
        </p:txBody>
      </p:sp>
      <p:sp>
        <p:nvSpPr>
          <p:cNvPr id="14" name="Shape 12"/>
          <p:cNvSpPr/>
          <p:nvPr/>
        </p:nvSpPr>
        <p:spPr>
          <a:xfrm>
            <a:off x="1737360" y="1874520"/>
            <a:ext cx="365760" cy="914"/>
          </a:xfrm>
          <a:prstGeom prst="line">
            <a:avLst/>
          </a:prstGeom>
          <a:noFill/>
          <a:ln w="19050">
            <a:solidFill>
              <a:srgbClr val="1F6F78"/>
            </a:solidFill>
            <a:prstDash val="solid"/>
            <a:tailEnd type="triangle"/>
          </a:ln>
        </p:spPr>
      </p:sp>
      <p:sp>
        <p:nvSpPr>
          <p:cNvPr id="15" name="Shape 13"/>
          <p:cNvSpPr/>
          <p:nvPr/>
        </p:nvSpPr>
        <p:spPr>
          <a:xfrm>
            <a:off x="3474720" y="1874520"/>
            <a:ext cx="365760" cy="914"/>
          </a:xfrm>
          <a:prstGeom prst="line">
            <a:avLst/>
          </a:prstGeom>
          <a:noFill/>
          <a:ln w="19050">
            <a:solidFill>
              <a:srgbClr val="1F6F78"/>
            </a:solidFill>
            <a:prstDash val="solid"/>
            <a:tailEnd type="triangle"/>
          </a:ln>
        </p:spPr>
      </p:sp>
      <p:sp>
        <p:nvSpPr>
          <p:cNvPr id="16" name="Shape 14"/>
          <p:cNvSpPr/>
          <p:nvPr/>
        </p:nvSpPr>
        <p:spPr>
          <a:xfrm>
            <a:off x="5303520" y="1874520"/>
            <a:ext cx="365760" cy="914"/>
          </a:xfrm>
          <a:prstGeom prst="line">
            <a:avLst/>
          </a:prstGeom>
          <a:noFill/>
          <a:ln w="19050">
            <a:solidFill>
              <a:srgbClr val="1F6F78"/>
            </a:solidFill>
            <a:prstDash val="solid"/>
            <a:tailEnd type="triangle"/>
          </a:ln>
        </p:spPr>
      </p:sp>
      <p:sp>
        <p:nvSpPr>
          <p:cNvPr id="17" name="Shape 15"/>
          <p:cNvSpPr/>
          <p:nvPr/>
        </p:nvSpPr>
        <p:spPr>
          <a:xfrm>
            <a:off x="7040880" y="1874520"/>
            <a:ext cx="365760" cy="914"/>
          </a:xfrm>
          <a:prstGeom prst="line">
            <a:avLst/>
          </a:prstGeom>
          <a:noFill/>
          <a:ln w="19050">
            <a:solidFill>
              <a:srgbClr val="1F6F78"/>
            </a:solidFill>
            <a:prstDash val="solid"/>
            <a:tailEnd type="triangle"/>
          </a:ln>
        </p:spPr>
      </p:sp>
      <p:sp>
        <p:nvSpPr>
          <p:cNvPr id="18" name="Shape 16"/>
          <p:cNvSpPr/>
          <p:nvPr/>
        </p:nvSpPr>
        <p:spPr>
          <a:xfrm>
            <a:off x="7406640" y="2697480"/>
            <a:ext cx="1280160" cy="548640"/>
          </a:xfrm>
          <a:prstGeom prst="roundRect">
            <a:avLst>
              <a:gd name="adj" fmla="val 13333"/>
            </a:avLst>
          </a:prstGeom>
          <a:solidFill>
            <a:srgbClr val="3E9E6B"/>
          </a:solidFill>
          <a:ln w="12700">
            <a:solidFill>
              <a:srgbClr val="3E9E6B"/>
            </a:solidFill>
            <a:prstDash val="solid"/>
          </a:ln>
        </p:spPr>
      </p:sp>
      <p:sp>
        <p:nvSpPr>
          <p:cNvPr id="19" name="Text 17"/>
          <p:cNvSpPr txBox="1"/>
          <p:nvPr/>
        </p:nvSpPr>
        <p:spPr>
          <a:xfrm>
            <a:off x="7452360" y="269748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LCD 1024×600</a:t>
            </a:r>
            <a:endParaRPr lang="en-US" sz="1200" dirty="0"/>
          </a:p>
        </p:txBody>
      </p:sp>
      <p:sp>
        <p:nvSpPr>
          <p:cNvPr id="20" name="Shape 18"/>
          <p:cNvSpPr/>
          <p:nvPr/>
        </p:nvSpPr>
        <p:spPr>
          <a:xfrm>
            <a:off x="5852160" y="2697480"/>
            <a:ext cx="1280160" cy="548640"/>
          </a:xfrm>
          <a:prstGeom prst="roundRect">
            <a:avLst>
              <a:gd name="adj" fmla="val 13333"/>
            </a:avLst>
          </a:prstGeom>
          <a:solidFill>
            <a:srgbClr val="3E9E6B"/>
          </a:solidFill>
          <a:ln w="12700">
            <a:solidFill>
              <a:srgbClr val="3E9E6B"/>
            </a:solidFill>
            <a:prstDash val="solid"/>
          </a:ln>
        </p:spPr>
      </p:sp>
      <p:sp>
        <p:nvSpPr>
          <p:cNvPr id="21" name="Text 19"/>
          <p:cNvSpPr txBox="1"/>
          <p:nvPr/>
        </p:nvSpPr>
        <p:spPr>
          <a:xfrm>
            <a:off x="5897880" y="269748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LED / UART</a:t>
            </a:r>
            <a:endParaRPr lang="en-US" sz="1200" dirty="0"/>
          </a:p>
        </p:txBody>
      </p:sp>
      <p:sp>
        <p:nvSpPr>
          <p:cNvPr id="22" name="Shape 20"/>
          <p:cNvSpPr/>
          <p:nvPr/>
        </p:nvSpPr>
        <p:spPr>
          <a:xfrm>
            <a:off x="8046720" y="2286000"/>
            <a:ext cx="914" cy="411480"/>
          </a:xfrm>
          <a:prstGeom prst="line">
            <a:avLst/>
          </a:prstGeom>
          <a:noFill/>
          <a:ln w="19050">
            <a:solidFill>
              <a:srgbClr val="1F6F78"/>
            </a:solidFill>
            <a:prstDash val="solid"/>
            <a:tailEnd type="triangle"/>
          </a:ln>
        </p:spPr>
      </p:sp>
      <p:sp>
        <p:nvSpPr>
          <p:cNvPr id="23" name="Shape 21"/>
          <p:cNvSpPr/>
          <p:nvPr/>
        </p:nvSpPr>
        <p:spPr>
          <a:xfrm flipH="1">
            <a:off x="6766560" y="2286000"/>
            <a:ext cx="640080" cy="411480"/>
          </a:xfrm>
          <a:prstGeom prst="line">
            <a:avLst/>
          </a:prstGeom>
          <a:noFill/>
          <a:ln w="19050">
            <a:solidFill>
              <a:srgbClr val="1F6F78"/>
            </a:solidFill>
            <a:prstDash val="solid"/>
            <a:tailEnd type="triangle"/>
          </a:ln>
        </p:spPr>
      </p:sp>
      <p:sp>
        <p:nvSpPr>
          <p:cNvPr id="24" name="Shape 22"/>
          <p:cNvSpPr/>
          <p:nvPr/>
        </p:nvSpPr>
        <p:spPr>
          <a:xfrm>
            <a:off x="457200" y="3520440"/>
            <a:ext cx="8229600" cy="457200"/>
          </a:xfrm>
          <a:prstGeom prst="roundRect">
            <a:avLst>
              <a:gd name="adj" fmla="val 12000"/>
            </a:avLst>
          </a:prstGeom>
          <a:solidFill>
            <a:srgbClr val="E3F0F1"/>
          </a:solidFill>
          <a:ln w="12700">
            <a:solidFill>
              <a:srgbClr val="9CC8CC"/>
            </a:solidFill>
            <a:prstDash val="solid"/>
          </a:ln>
        </p:spPr>
      </p:sp>
      <p:sp>
        <p:nvSpPr>
          <p:cNvPr id="25" name="Text 23"/>
          <p:cNvSpPr txBox="1"/>
          <p:nvPr/>
        </p:nvSpPr>
        <p:spPr>
          <a:xfrm>
            <a:off x="548640" y="3520440"/>
            <a:ext cx="8046720" cy="457200"/>
          </a:xfrm>
          <a:prstGeom prst="rect">
            <a:avLst/>
          </a:prstGeom>
          <a:noFill/>
          <a:ln/>
        </p:spPr>
        <p:txBody>
          <a:bodyPr wrap="square" lIns="0" tIns="0" rIns="0" bIns="0" rtlCol="0" anchor="ctr"/>
          <a:lstStyle/>
          <a:p>
            <a:pPr algn="ctr" indent="0" marL="0">
              <a:buNone/>
            </a:pPr>
            <a:r>
              <a:rPr lang="en-US" sz="1200" b="1" dirty="0">
                <a:solidFill>
                  <a:srgbClr val="0F2A33"/>
                </a:solidFill>
                <a:latin typeface="Meiryo" pitchFamily="34" charset="0"/>
                <a:ea typeface="Meiryo" pitchFamily="34" charset="-122"/>
                <a:cs typeface="Meiryo" pitchFamily="34" charset="-120"/>
              </a:rPr>
              <a:t>μT-Kernel 3.0（mtk3_bsp2）── タスク・イベントフラグ・割り込み管理</a:t>
            </a:r>
            <a:endParaRPr lang="en-US" sz="1200" dirty="0"/>
          </a:p>
        </p:txBody>
      </p:sp>
      <p:sp>
        <p:nvSpPr>
          <p:cNvPr id="26" name="Shape 24"/>
          <p:cNvSpPr/>
          <p:nvPr/>
        </p:nvSpPr>
        <p:spPr>
          <a:xfrm>
            <a:off x="457200" y="4069080"/>
            <a:ext cx="8229600" cy="411480"/>
          </a:xfrm>
          <a:prstGeom prst="roundRect">
            <a:avLst>
              <a:gd name="adj" fmla="val 13333"/>
            </a:avLst>
          </a:prstGeom>
          <a:solidFill>
            <a:srgbClr val="F1F4F5"/>
          </a:solidFill>
          <a:ln w="12700">
            <a:solidFill>
              <a:srgbClr val="C9D6D8"/>
            </a:solidFill>
            <a:prstDash val="solid"/>
          </a:ln>
        </p:spPr>
      </p:sp>
      <p:sp>
        <p:nvSpPr>
          <p:cNvPr id="27" name="Text 25"/>
          <p:cNvSpPr txBox="1"/>
          <p:nvPr/>
        </p:nvSpPr>
        <p:spPr>
          <a:xfrm>
            <a:off x="548640" y="4069080"/>
            <a:ext cx="8046720" cy="411480"/>
          </a:xfrm>
          <a:prstGeom prst="rect">
            <a:avLst/>
          </a:prstGeom>
          <a:noFill/>
          <a:ln/>
        </p:spPr>
        <p:txBody>
          <a:bodyPr wrap="square" lIns="0" tIns="0" rIns="0" bIns="0" rtlCol="0" anchor="ctr"/>
          <a:lstStyle/>
          <a:p>
            <a:pPr algn="ctr" indent="0" marL="0">
              <a:buNone/>
            </a:pPr>
            <a:r>
              <a:rPr lang="en-US" sz="1000" dirty="0">
                <a:solidFill>
                  <a:srgbClr val="1B2B30"/>
                </a:solidFill>
                <a:latin typeface="Meiryo" pitchFamily="34" charset="0"/>
                <a:ea typeface="Meiryo" pitchFamily="34" charset="-122"/>
                <a:cs typeface="Meiryo" pitchFamily="34" charset="-120"/>
              </a:rPr>
              <a:t>Renesas FSP 6.6.0 ── r_vin / r_mipi_csi / r_glcdc / r_drw / rm_ethosu / r_iic_master / r_gpt</a:t>
            </a:r>
            <a:endParaRPr lang="en-US" sz="1000" dirty="0"/>
          </a:p>
        </p:txBody>
      </p:sp>
      <p:sp>
        <p:nvSpPr>
          <p:cNvPr id="28" name="Text 26"/>
          <p:cNvSpPr txBox="1"/>
          <p:nvPr/>
        </p:nvSpPr>
        <p:spPr>
          <a:xfrm>
            <a:off x="457200" y="2788920"/>
            <a:ext cx="5212080" cy="365760"/>
          </a:xfrm>
          <a:prstGeom prst="rect">
            <a:avLst/>
          </a:prstGeom>
          <a:noFill/>
          <a:ln/>
        </p:spPr>
        <p:txBody>
          <a:bodyPr wrap="square" lIns="0" tIns="0" rIns="0" bIns="0" rtlCol="0" anchor="ctr"/>
          <a:lstStyle/>
          <a:p>
            <a:pPr indent="0" marL="0">
              <a:buNone/>
            </a:pPr>
            <a:r>
              <a:rPr lang="en-US" sz="1000" dirty="0">
                <a:solidFill>
                  <a:srgbClr val="5B6B70"/>
                </a:solidFill>
                <a:latin typeface="Meiryo" pitchFamily="34" charset="0"/>
                <a:ea typeface="Meiryo" pitchFamily="34" charset="-122"/>
                <a:cs typeface="Meiryo" pitchFamily="34" charset="-120"/>
              </a:rPr>
              <a:t>キット同梱品のみで動作（追加ハードウェア不要）・AIモデルは内蔵フラッシュに配置</a:t>
            </a:r>
            <a:endParaRPr lang="en-US" sz="1000" dirty="0"/>
          </a:p>
        </p:txBody>
      </p:sp>
      <p:sp>
        <p:nvSpPr>
          <p:cNvPr id="29" name="Text 27"/>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B6B70"/>
                </a:solidFill>
                <a:latin typeface="Meiryo" pitchFamily="34" charset="0"/>
                <a:ea typeface="Meiryo" pitchFamily="34" charset="-122"/>
                <a:cs typeface="Meiryo"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F2A33"/>
                </a:solidFill>
                <a:latin typeface="Meiryo" pitchFamily="34" charset="0"/>
                <a:ea typeface="Meiryo" pitchFamily="34" charset="-122"/>
                <a:cs typeface="Meiryo" pitchFamily="34" charset="-120"/>
              </a:rPr>
              <a:t>μT-Kernel 上のタスク構成（現在の実装）</a:t>
            </a:r>
            <a:endParaRPr lang="en-US" sz="24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dirty="0">
                <a:solidFill>
                  <a:srgbClr val="5B6B70"/>
                </a:solidFill>
                <a:latin typeface="Meiryo" pitchFamily="34" charset="0"/>
                <a:ea typeface="Meiryo" pitchFamily="34" charset="-122"/>
                <a:cs typeface="Meiryo" pitchFamily="34" charset="-120"/>
              </a:rPr>
              <a:t>ルネサス公式の FreeRTOS 版サンプル（2スレッド）を、ロジックを変えずに μT-Kernel のタスクとして動かす</a:t>
            </a:r>
            <a:endParaRPr lang="en-US" sz="1200" dirty="0"/>
          </a:p>
        </p:txBody>
      </p:sp>
      <p:sp>
        <p:nvSpPr>
          <p:cNvPr id="4" name="Shape 2"/>
          <p:cNvSpPr/>
          <p:nvPr/>
        </p:nvSpPr>
        <p:spPr>
          <a:xfrm>
            <a:off x="457200" y="1371600"/>
            <a:ext cx="2651760" cy="2651760"/>
          </a:xfrm>
          <a:prstGeom prst="roundRect">
            <a:avLst>
              <a:gd name="adj" fmla="val 2759"/>
            </a:avLst>
          </a:prstGeom>
          <a:solidFill>
            <a:srgbClr val="FFFFFF"/>
          </a:solidFill>
          <a:ln w="9525">
            <a:solidFill>
              <a:srgbClr val="C9D6D8"/>
            </a:solidFill>
            <a:prstDash val="solid"/>
          </a:ln>
        </p:spPr>
      </p:sp>
      <p:sp>
        <p:nvSpPr>
          <p:cNvPr id="5" name="Text 3"/>
          <p:cNvSpPr txBox="1"/>
          <p:nvPr/>
        </p:nvSpPr>
        <p:spPr>
          <a:xfrm>
            <a:off x="640080" y="1508760"/>
            <a:ext cx="2286000" cy="320040"/>
          </a:xfrm>
          <a:prstGeom prst="rect">
            <a:avLst/>
          </a:prstGeom>
          <a:noFill/>
          <a:ln/>
        </p:spPr>
        <p:txBody>
          <a:bodyPr wrap="square" lIns="0" tIns="0" rIns="0" bIns="0" rtlCol="0" anchor="ctr"/>
          <a:lstStyle/>
          <a:p>
            <a:pPr indent="0" marL="0">
              <a:buNone/>
            </a:pPr>
            <a:r>
              <a:rPr lang="en-US" sz="1400" b="1" dirty="0">
                <a:solidFill>
                  <a:srgbClr val="0F2A33"/>
                </a:solidFill>
                <a:latin typeface="Meiryo" pitchFamily="34" charset="0"/>
                <a:ea typeface="Meiryo" pitchFamily="34" charset="-122"/>
                <a:cs typeface="Meiryo" pitchFamily="34" charset="-120"/>
              </a:rPr>
              <a:t>camera タスク</a:t>
            </a:r>
            <a:endParaRPr lang="en-US" sz="1400" dirty="0"/>
          </a:p>
        </p:txBody>
      </p:sp>
      <p:sp>
        <p:nvSpPr>
          <p:cNvPr id="6" name="Text 4"/>
          <p:cNvSpPr txBox="1"/>
          <p:nvPr/>
        </p:nvSpPr>
        <p:spPr>
          <a:xfrm>
            <a:off x="640080" y="1828800"/>
            <a:ext cx="2286000" cy="274320"/>
          </a:xfrm>
          <a:prstGeom prst="rect">
            <a:avLst/>
          </a:prstGeom>
          <a:noFill/>
          <a:ln/>
        </p:spPr>
        <p:txBody>
          <a:bodyPr wrap="square" lIns="0" tIns="0" rIns="0" bIns="0" rtlCol="0" anchor="ctr"/>
          <a:lstStyle/>
          <a:p>
            <a:pPr indent="0" marL="0">
              <a:buNone/>
            </a:pPr>
            <a:r>
              <a:rPr lang="en-US" sz="1000" b="1" dirty="0">
                <a:solidFill>
                  <a:srgbClr val="1F6F78"/>
                </a:solidFill>
                <a:latin typeface="Meiryo" pitchFamily="34" charset="0"/>
                <a:ea typeface="Meiryo" pitchFamily="34" charset="-122"/>
                <a:cs typeface="Meiryo" pitchFamily="34" charset="-120"/>
              </a:rPr>
              <a:t>優先度 9 ／ スタック 8KB</a:t>
            </a:r>
            <a:endParaRPr lang="en-US" sz="1000" dirty="0"/>
          </a:p>
        </p:txBody>
      </p:sp>
      <p:sp>
        <p:nvSpPr>
          <p:cNvPr id="7" name="Text 5"/>
          <p:cNvSpPr txBox="1"/>
          <p:nvPr/>
        </p:nvSpPr>
        <p:spPr>
          <a:xfrm>
            <a:off x="640080" y="2148840"/>
            <a:ext cx="2331720" cy="173736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1B2B30"/>
                </a:solidFill>
                <a:latin typeface="Meiryo" pitchFamily="34" charset="0"/>
                <a:ea typeface="Meiryo" pitchFamily="34" charset="-122"/>
                <a:cs typeface="Meiryo" pitchFamily="34" charset="-120"/>
              </a:rPr>
              <a:t>LCD・カメラ初期化</a:t>
            </a:r>
            <a:endParaRPr lang="en-US" sz="1000" dirty="0"/>
          </a:p>
          <a:p>
            <a:pPr marL="342900" indent="-342900">
              <a:spcAft>
                <a:spcPts val="300"/>
              </a:spcAft>
              <a:buSzPct val="100000"/>
              <a:buChar char="•"/>
            </a:pPr>
            <a:r>
              <a:rPr lang="en-US" sz="1000" dirty="0">
                <a:solidFill>
                  <a:srgbClr val="1B2B30"/>
                </a:solidFill>
                <a:latin typeface="Meiryo" pitchFamily="34" charset="0"/>
                <a:ea typeface="Meiryo" pitchFamily="34" charset="-122"/>
                <a:cs typeface="Meiryo" pitchFamily="34" charset="-120"/>
              </a:rPr>
              <a:t>フレーム完了を待つ</a:t>
            </a:r>
            <a:endParaRPr lang="en-US" sz="1000" dirty="0"/>
          </a:p>
          <a:p>
            <a:pPr marL="342900" indent="-342900">
              <a:spcAft>
                <a:spcPts val="300"/>
              </a:spcAft>
              <a:buSzPct val="100000"/>
              <a:buChar char="•"/>
            </a:pPr>
            <a:r>
              <a:rPr lang="en-US" sz="1000" dirty="0">
                <a:solidFill>
                  <a:srgbClr val="1B2B30"/>
                </a:solidFill>
                <a:latin typeface="Meiryo" pitchFamily="34" charset="0"/>
                <a:ea typeface="Meiryo" pitchFamily="34" charset="-122"/>
                <a:cs typeface="Meiryo" pitchFamily="34" charset="-120"/>
              </a:rPr>
              <a:t>RGB565→INT8 前処理</a:t>
            </a:r>
            <a:endParaRPr lang="en-US" sz="1000" dirty="0"/>
          </a:p>
          <a:p>
            <a:pPr marL="342900" indent="-342900">
              <a:spcAft>
                <a:spcPts val="300"/>
              </a:spcAft>
              <a:buSzPct val="100000"/>
              <a:buChar char="•"/>
            </a:pPr>
            <a:r>
              <a:rPr lang="en-US" sz="1000" dirty="0">
                <a:solidFill>
                  <a:srgbClr val="1B2B30"/>
                </a:solidFill>
                <a:latin typeface="Meiryo" pitchFamily="34" charset="0"/>
                <a:ea typeface="Meiryo" pitchFamily="34" charset="-122"/>
                <a:cs typeface="Meiryo" pitchFamily="34" charset="-120"/>
              </a:rPr>
              <a:t>推論結果を描画</a:t>
            </a:r>
            <a:endParaRPr lang="en-US" sz="1000" dirty="0"/>
          </a:p>
        </p:txBody>
      </p:sp>
      <p:sp>
        <p:nvSpPr>
          <p:cNvPr id="8" name="Shape 6"/>
          <p:cNvSpPr/>
          <p:nvPr/>
        </p:nvSpPr>
        <p:spPr>
          <a:xfrm>
            <a:off x="6035040" y="1371600"/>
            <a:ext cx="2651760" cy="2651760"/>
          </a:xfrm>
          <a:prstGeom prst="roundRect">
            <a:avLst>
              <a:gd name="adj" fmla="val 2759"/>
            </a:avLst>
          </a:prstGeom>
          <a:solidFill>
            <a:srgbClr val="FFFFFF"/>
          </a:solidFill>
          <a:ln w="9525">
            <a:solidFill>
              <a:srgbClr val="C9D6D8"/>
            </a:solidFill>
            <a:prstDash val="solid"/>
          </a:ln>
        </p:spPr>
      </p:sp>
      <p:sp>
        <p:nvSpPr>
          <p:cNvPr id="9" name="Text 7"/>
          <p:cNvSpPr txBox="1"/>
          <p:nvPr/>
        </p:nvSpPr>
        <p:spPr>
          <a:xfrm>
            <a:off x="6217920" y="1508760"/>
            <a:ext cx="2286000" cy="320040"/>
          </a:xfrm>
          <a:prstGeom prst="rect">
            <a:avLst/>
          </a:prstGeom>
          <a:noFill/>
          <a:ln/>
        </p:spPr>
        <p:txBody>
          <a:bodyPr wrap="square" lIns="0" tIns="0" rIns="0" bIns="0" rtlCol="0" anchor="ctr"/>
          <a:lstStyle/>
          <a:p>
            <a:pPr indent="0" marL="0">
              <a:buNone/>
            </a:pPr>
            <a:r>
              <a:rPr lang="en-US" sz="1400" b="1" dirty="0">
                <a:solidFill>
                  <a:srgbClr val="0F2A33"/>
                </a:solidFill>
                <a:latin typeface="Meiryo" pitchFamily="34" charset="0"/>
                <a:ea typeface="Meiryo" pitchFamily="34" charset="-122"/>
                <a:cs typeface="Meiryo" pitchFamily="34" charset="-120"/>
              </a:rPr>
              <a:t>AI タスク</a:t>
            </a:r>
            <a:endParaRPr lang="en-US" sz="1400" dirty="0"/>
          </a:p>
        </p:txBody>
      </p:sp>
      <p:sp>
        <p:nvSpPr>
          <p:cNvPr id="10" name="Text 8"/>
          <p:cNvSpPr txBox="1"/>
          <p:nvPr/>
        </p:nvSpPr>
        <p:spPr>
          <a:xfrm>
            <a:off x="6217920" y="1828800"/>
            <a:ext cx="2286000" cy="274320"/>
          </a:xfrm>
          <a:prstGeom prst="rect">
            <a:avLst/>
          </a:prstGeom>
          <a:noFill/>
          <a:ln/>
        </p:spPr>
        <p:txBody>
          <a:bodyPr wrap="square" lIns="0" tIns="0" rIns="0" bIns="0" rtlCol="0" anchor="ctr"/>
          <a:lstStyle/>
          <a:p>
            <a:pPr indent="0" marL="0">
              <a:buNone/>
            </a:pPr>
            <a:r>
              <a:rPr lang="en-US" sz="1000" b="1" dirty="0">
                <a:solidFill>
                  <a:srgbClr val="1F6F78"/>
                </a:solidFill>
                <a:latin typeface="Meiryo" pitchFamily="34" charset="0"/>
                <a:ea typeface="Meiryo" pitchFamily="34" charset="-122"/>
                <a:cs typeface="Meiryo" pitchFamily="34" charset="-120"/>
              </a:rPr>
              <a:t>優先度 10 ／ スタック 32KB</a:t>
            </a:r>
            <a:endParaRPr lang="en-US" sz="1000" dirty="0"/>
          </a:p>
        </p:txBody>
      </p:sp>
      <p:sp>
        <p:nvSpPr>
          <p:cNvPr id="11" name="Text 9"/>
          <p:cNvSpPr txBox="1"/>
          <p:nvPr/>
        </p:nvSpPr>
        <p:spPr>
          <a:xfrm>
            <a:off x="6217920" y="2148840"/>
            <a:ext cx="2331720" cy="173736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1B2B30"/>
                </a:solidFill>
                <a:latin typeface="Meiryo" pitchFamily="34" charset="0"/>
                <a:ea typeface="Meiryo" pitchFamily="34" charset="-122"/>
                <a:cs typeface="Meiryo" pitchFamily="34" charset="-120"/>
              </a:rPr>
              <a:t>Ethos-U55 初期化</a:t>
            </a:r>
            <a:endParaRPr lang="en-US" sz="1000" dirty="0"/>
          </a:p>
          <a:p>
            <a:pPr marL="342900" indent="-342900">
              <a:spcAft>
                <a:spcPts val="300"/>
              </a:spcAft>
              <a:buSzPct val="100000"/>
              <a:buChar char="•"/>
            </a:pPr>
            <a:r>
              <a:rPr lang="en-US" sz="1000" dirty="0">
                <a:solidFill>
                  <a:srgbClr val="1B2B30"/>
                </a:solidFill>
                <a:latin typeface="Meiryo" pitchFamily="34" charset="0"/>
                <a:ea typeface="Meiryo" pitchFamily="34" charset="-122"/>
                <a:cs typeface="Meiryo" pitchFamily="34" charset="-120"/>
              </a:rPr>
              <a:t>入力画像の準備完了を待つ</a:t>
            </a:r>
            <a:endParaRPr lang="en-US" sz="1000" dirty="0"/>
          </a:p>
          <a:p>
            <a:pPr marL="342900" indent="-342900">
              <a:spcAft>
                <a:spcPts val="300"/>
              </a:spcAft>
              <a:buSzPct val="100000"/>
              <a:buChar char="•"/>
            </a:pPr>
            <a:r>
              <a:rPr lang="en-US" sz="1000" dirty="0">
                <a:solidFill>
                  <a:srgbClr val="1B2B30"/>
                </a:solidFill>
                <a:latin typeface="Meiryo" pitchFamily="34" charset="0"/>
                <a:ea typeface="Meiryo" pitchFamily="34" charset="-122"/>
                <a:cs typeface="Meiryo" pitchFamily="34" charset="-120"/>
              </a:rPr>
              <a:t>YOLO-fastest 推論</a:t>
            </a:r>
            <a:endParaRPr lang="en-US" sz="1000" dirty="0"/>
          </a:p>
          <a:p>
            <a:pPr marL="342900" indent="-342900">
              <a:spcAft>
                <a:spcPts val="300"/>
              </a:spcAft>
              <a:buSzPct val="100000"/>
              <a:buChar char="•"/>
            </a:pPr>
            <a:r>
              <a:rPr lang="en-US" sz="1000" dirty="0">
                <a:solidFill>
                  <a:srgbClr val="1B2B30"/>
                </a:solidFill>
                <a:latin typeface="Meiryo" pitchFamily="34" charset="0"/>
                <a:ea typeface="Meiryo" pitchFamily="34" charset="-122"/>
                <a:cs typeface="Meiryo" pitchFamily="34" charset="-120"/>
              </a:rPr>
              <a:t>検出枠を後処理</a:t>
            </a:r>
            <a:endParaRPr lang="en-US" sz="1000" dirty="0"/>
          </a:p>
        </p:txBody>
      </p:sp>
      <p:sp>
        <p:nvSpPr>
          <p:cNvPr id="12" name="Shape 10"/>
          <p:cNvSpPr/>
          <p:nvPr/>
        </p:nvSpPr>
        <p:spPr>
          <a:xfrm>
            <a:off x="3520440" y="1691640"/>
            <a:ext cx="2103120" cy="2011680"/>
          </a:xfrm>
          <a:prstGeom prst="ellipse">
            <a:avLst/>
          </a:prstGeom>
          <a:solidFill>
            <a:srgbClr val="E3F0F1"/>
          </a:solidFill>
          <a:ln w="19050">
            <a:solidFill>
              <a:srgbClr val="1F6F78"/>
            </a:solidFill>
            <a:prstDash val="solid"/>
          </a:ln>
        </p:spPr>
      </p:sp>
      <p:sp>
        <p:nvSpPr>
          <p:cNvPr id="13" name="Text 11"/>
          <p:cNvSpPr txBox="1"/>
          <p:nvPr/>
        </p:nvSpPr>
        <p:spPr>
          <a:xfrm>
            <a:off x="3611880" y="1691640"/>
            <a:ext cx="1920240" cy="2011680"/>
          </a:xfrm>
          <a:prstGeom prst="rect">
            <a:avLst/>
          </a:prstGeom>
          <a:noFill/>
          <a:ln/>
        </p:spPr>
        <p:txBody>
          <a:bodyPr wrap="square" lIns="0" tIns="0" rIns="0" bIns="0" rtlCol="0" anchor="ctr"/>
          <a:lstStyle/>
          <a:p>
            <a:pPr algn="ctr" indent="0" marL="0">
              <a:buNone/>
            </a:pPr>
            <a:r>
              <a:rPr lang="en-US" sz="1300" b="1" dirty="0">
                <a:solidFill>
                  <a:srgbClr val="0F2A33"/>
                </a:solidFill>
                <a:latin typeface="Meiryo" pitchFamily="34" charset="0"/>
                <a:ea typeface="Meiryo" pitchFamily="34" charset="-122"/>
                <a:cs typeface="Meiryo" pitchFamily="34" charset="-120"/>
              </a:rPr>
              <a:t>イベントフラグ</a:t>
            </a:r>
            <a:endParaRPr lang="en-US" sz="1300" dirty="0"/>
          </a:p>
          <a:p>
            <a:pPr algn="ctr" indent="0" marL="0">
              <a:buNone/>
            </a:pPr>
            <a:r>
              <a:rPr lang="en-US" sz="1000" dirty="0">
                <a:solidFill>
                  <a:srgbClr val="0F2A33"/>
                </a:solidFill>
                <a:latin typeface="Meiryo" pitchFamily="34" charset="0"/>
                <a:ea typeface="Meiryo" pitchFamily="34" charset="-122"/>
                <a:cs typeface="Meiryo" pitchFamily="34" charset="-120"/>
              </a:rPr>
              <a:t>g_ai_app_event</a:t>
            </a:r>
            <a:endParaRPr lang="en-US" sz="1300" dirty="0"/>
          </a:p>
          <a:p>
            <a:pPr algn="ctr" indent="0" marL="0">
              <a:buNone/>
            </a:pPr>
            <a:r>
              <a:rPr lang="en-US" sz="1000" dirty="0">
                <a:solidFill>
                  <a:srgbClr val="0F2A33"/>
                </a:solidFill>
                <a:latin typeface="Meiryo" pitchFamily="34" charset="0"/>
                <a:ea typeface="Meiryo" pitchFamily="34" charset="-122"/>
                <a:cs typeface="Meiryo" pitchFamily="34" charset="-120"/>
              </a:rPr>
              <a:t>TA_WMUL</a:t>
            </a:r>
            <a:endParaRPr lang="en-US" sz="1300" dirty="0"/>
          </a:p>
        </p:txBody>
      </p:sp>
      <p:sp>
        <p:nvSpPr>
          <p:cNvPr id="14" name="Shape 12"/>
          <p:cNvSpPr/>
          <p:nvPr/>
        </p:nvSpPr>
        <p:spPr>
          <a:xfrm>
            <a:off x="3108960" y="2194560"/>
            <a:ext cx="457200" cy="914"/>
          </a:xfrm>
          <a:prstGeom prst="line">
            <a:avLst/>
          </a:prstGeom>
          <a:noFill/>
          <a:ln w="19050">
            <a:solidFill>
              <a:srgbClr val="1F6F78"/>
            </a:solidFill>
            <a:prstDash val="solid"/>
            <a:tailEnd type="triangle"/>
          </a:ln>
        </p:spPr>
      </p:sp>
      <p:sp>
        <p:nvSpPr>
          <p:cNvPr id="15" name="Shape 13"/>
          <p:cNvSpPr/>
          <p:nvPr/>
        </p:nvSpPr>
        <p:spPr>
          <a:xfrm>
            <a:off x="5577840" y="2194560"/>
            <a:ext cx="457200" cy="914"/>
          </a:xfrm>
          <a:prstGeom prst="line">
            <a:avLst/>
          </a:prstGeom>
          <a:noFill/>
          <a:ln w="19050">
            <a:solidFill>
              <a:srgbClr val="1F6F78"/>
            </a:solidFill>
            <a:prstDash val="solid"/>
            <a:tailEnd type="triangle"/>
          </a:ln>
        </p:spPr>
      </p:sp>
      <p:sp>
        <p:nvSpPr>
          <p:cNvPr id="16" name="Shape 14"/>
          <p:cNvSpPr/>
          <p:nvPr/>
        </p:nvSpPr>
        <p:spPr>
          <a:xfrm flipH="1">
            <a:off x="5577840" y="3200400"/>
            <a:ext cx="457200" cy="914"/>
          </a:xfrm>
          <a:prstGeom prst="line">
            <a:avLst/>
          </a:prstGeom>
          <a:noFill/>
          <a:ln w="19050">
            <a:solidFill>
              <a:srgbClr val="1F6F78"/>
            </a:solidFill>
            <a:prstDash val="solid"/>
            <a:tailEnd type="triangle"/>
          </a:ln>
        </p:spPr>
      </p:sp>
      <p:sp>
        <p:nvSpPr>
          <p:cNvPr id="17" name="Shape 15"/>
          <p:cNvSpPr/>
          <p:nvPr/>
        </p:nvSpPr>
        <p:spPr>
          <a:xfrm flipH="1">
            <a:off x="3108960" y="3200400"/>
            <a:ext cx="457200" cy="914"/>
          </a:xfrm>
          <a:prstGeom prst="line">
            <a:avLst/>
          </a:prstGeom>
          <a:noFill/>
          <a:ln w="19050">
            <a:solidFill>
              <a:srgbClr val="1F6F78"/>
            </a:solidFill>
            <a:prstDash val="solid"/>
            <a:tailEnd type="triangle"/>
          </a:ln>
        </p:spPr>
      </p:sp>
      <p:sp>
        <p:nvSpPr>
          <p:cNvPr id="18" name="Text 16"/>
          <p:cNvSpPr txBox="1"/>
          <p:nvPr/>
        </p:nvSpPr>
        <p:spPr>
          <a:xfrm>
            <a:off x="3017520" y="1371600"/>
            <a:ext cx="3108960" cy="274320"/>
          </a:xfrm>
          <a:prstGeom prst="rect">
            <a:avLst/>
          </a:prstGeom>
          <a:noFill/>
          <a:ln/>
        </p:spPr>
        <p:txBody>
          <a:bodyPr wrap="square" lIns="0" tIns="0" rIns="0" bIns="0" rtlCol="0" anchor="ctr"/>
          <a:lstStyle/>
          <a:p>
            <a:pPr algn="ctr" indent="0" marL="0">
              <a:buNone/>
            </a:pPr>
            <a:r>
              <a:rPr lang="en-US" sz="900" dirty="0">
                <a:solidFill>
                  <a:srgbClr val="5B6B70"/>
                </a:solidFill>
                <a:latin typeface="Arial" pitchFamily="34" charset="0"/>
                <a:ea typeface="Arial" pitchFamily="34" charset="-122"/>
                <a:cs typeface="Arial" pitchFamily="34" charset="-120"/>
              </a:rPr>
              <a:t>INPUT_IMAGE_READY →</a:t>
            </a:r>
            <a:endParaRPr lang="en-US" sz="900" dirty="0"/>
          </a:p>
        </p:txBody>
      </p:sp>
      <p:sp>
        <p:nvSpPr>
          <p:cNvPr id="19" name="Text 17"/>
          <p:cNvSpPr txBox="1"/>
          <p:nvPr/>
        </p:nvSpPr>
        <p:spPr>
          <a:xfrm>
            <a:off x="3017520" y="3749040"/>
            <a:ext cx="3108960" cy="274320"/>
          </a:xfrm>
          <a:prstGeom prst="rect">
            <a:avLst/>
          </a:prstGeom>
          <a:noFill/>
          <a:ln/>
        </p:spPr>
        <p:txBody>
          <a:bodyPr wrap="square" lIns="0" tIns="0" rIns="0" bIns="0" rtlCol="0" anchor="ctr"/>
          <a:lstStyle/>
          <a:p>
            <a:pPr algn="ctr" indent="0" marL="0">
              <a:buNone/>
            </a:pPr>
            <a:r>
              <a:rPr lang="en-US" sz="900" dirty="0">
                <a:solidFill>
                  <a:srgbClr val="5B6B70"/>
                </a:solidFill>
                <a:latin typeface="Arial" pitchFamily="34" charset="0"/>
                <a:ea typeface="Arial" pitchFamily="34" charset="-122"/>
                <a:cs typeface="Arial" pitchFamily="34" charset="-120"/>
              </a:rPr>
              <a:t>← RESULT_UPDATED</a:t>
            </a:r>
            <a:endParaRPr lang="en-US" sz="900" dirty="0"/>
          </a:p>
        </p:txBody>
      </p:sp>
      <p:sp>
        <p:nvSpPr>
          <p:cNvPr id="20" name="Shape 18"/>
          <p:cNvSpPr/>
          <p:nvPr/>
        </p:nvSpPr>
        <p:spPr>
          <a:xfrm>
            <a:off x="457200" y="4160520"/>
            <a:ext cx="8229600" cy="457200"/>
          </a:xfrm>
          <a:prstGeom prst="roundRect">
            <a:avLst>
              <a:gd name="adj" fmla="val 12000"/>
            </a:avLst>
          </a:prstGeom>
          <a:solidFill>
            <a:srgbClr val="FBEFE0"/>
          </a:solidFill>
          <a:ln w="12700">
            <a:solidFill>
              <a:srgbClr val="E89B2F"/>
            </a:solidFill>
            <a:prstDash val="solid"/>
          </a:ln>
        </p:spPr>
      </p:sp>
      <p:sp>
        <p:nvSpPr>
          <p:cNvPr id="21" name="Text 19"/>
          <p:cNvSpPr txBox="1"/>
          <p:nvPr/>
        </p:nvSpPr>
        <p:spPr>
          <a:xfrm>
            <a:off x="594360" y="4160520"/>
            <a:ext cx="7955280" cy="457200"/>
          </a:xfrm>
          <a:prstGeom prst="rect">
            <a:avLst/>
          </a:prstGeom>
          <a:noFill/>
          <a:ln/>
        </p:spPr>
        <p:txBody>
          <a:bodyPr wrap="square" lIns="0" tIns="0" rIns="0" bIns="0" rtlCol="0" anchor="ctr"/>
          <a:lstStyle/>
          <a:p>
            <a:pPr indent="0" marL="0">
              <a:buNone/>
            </a:pPr>
            <a:r>
              <a:rPr lang="en-US" sz="1000" dirty="0">
                <a:solidFill>
                  <a:srgbClr val="1B2B30"/>
                </a:solidFill>
                <a:latin typeface="Meiryo" pitchFamily="34" charset="0"/>
                <a:ea typeface="Meiryo" pitchFamily="34" charset="-122"/>
                <a:cs typeface="Meiryo" pitchFamily="34" charset="-120"/>
              </a:rPr>
              <a:t>VIN 割り込み（FSP コールバック）→ タスク独立部で tk_set_flg(CAMERA_CAPTURE_COMPLETED) → camera タスク起床</a:t>
            </a:r>
            <a:endParaRPr lang="en-US" sz="1000" dirty="0"/>
          </a:p>
        </p:txBody>
      </p:sp>
      <p:sp>
        <p:nvSpPr>
          <p:cNvPr id="22" name="Text 20"/>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B6B70"/>
                </a:solidFill>
                <a:latin typeface="Meiryo" pitchFamily="34" charset="0"/>
                <a:ea typeface="Meiryo" pitchFamily="34" charset="-122"/>
                <a:cs typeface="Meiry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F2A33"/>
                </a:solidFill>
                <a:latin typeface="Meiryo" pitchFamily="34" charset="0"/>
                <a:ea typeface="Meiryo" pitchFamily="34" charset="-122"/>
                <a:cs typeface="Meiryo" pitchFamily="34" charset="-120"/>
              </a:rPr>
              <a:t>互換レイヤー rtos_to_mtk.h</a:t>
            </a:r>
            <a:endParaRPr lang="en-US" sz="24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dirty="0">
                <a:solidFill>
                  <a:srgbClr val="5B6B70"/>
                </a:solidFill>
                <a:latin typeface="Meiryo" pitchFamily="34" charset="0"/>
                <a:ea typeface="Meiryo" pitchFamily="34" charset="-122"/>
                <a:cs typeface="Meiryo" pitchFamily="34" charset="-120"/>
              </a:rPr>
              <a:t>FreeRTOS の API をヘッダ 1 本で μT-Kernel に置き換え、移植元のコードはほぼ無改変のまま動かす</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377440"/>
                <a:gridCol w="2468880"/>
                <a:gridCol w="3383280"/>
              </a:tblGrid>
              <a:tr h="384048">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FreeRTOS</a:t>
                      </a:r>
                      <a:endParaRPr lang="en-US" sz="11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solidFill>
                      <a:srgbClr val="0F2A33"/>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μT-Kernel 3.0</a:t>
                      </a:r>
                      <a:endParaRPr lang="en-US" sz="11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solidFill>
                      <a:srgbClr val="0F2A33"/>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ポイント</a:t>
                      </a:r>
                      <a:endParaRPr lang="en-US" sz="11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solidFill>
                      <a:srgbClr val="0F2A33"/>
                    </a:solidFill>
                  </a:tcPr>
                </a:tc>
              </a:tr>
              <a:tr h="384048">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xEventGroupWaitBits</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tk_wai_flg + TWF_BITCLR</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00" dirty="0">
                          <a:solidFill>
                            <a:srgbClr val="1B2B30"/>
                          </a:solidFill>
                          <a:latin typeface="Meiryo" pitchFamily="34" charset="0"/>
                          <a:ea typeface="Meiryo" pitchFamily="34" charset="-122"/>
                          <a:cs typeface="Meiryo" pitchFamily="34" charset="-120"/>
                        </a:rPr>
                        <a:t>待ったビットだけクリアする動作を再現</a:t>
                      </a:r>
                      <a:endParaRPr lang="en-US" sz="10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r>
              <a:tr h="384048">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xEventGroupSetBits</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tk_set_flg</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endParaRPr lang="en-US" sz="10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r>
              <a:tr h="384048">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xEventGroupClearBits</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tk_clr_flg(id, ~bits)</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00" dirty="0">
                          <a:solidFill>
                            <a:srgbClr val="1B2B30"/>
                          </a:solidFill>
                          <a:latin typeface="Meiryo" pitchFamily="34" charset="0"/>
                          <a:ea typeface="Meiryo" pitchFamily="34" charset="-122"/>
                          <a:cs typeface="Meiryo" pitchFamily="34" charset="-120"/>
                        </a:rPr>
                        <a:t>tk_clr_flg は AND パターン → 反転して渡す</a:t>
                      </a:r>
                      <a:endParaRPr lang="en-US" sz="10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r>
              <a:tr h="384048">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xEventGroupSetBitsFromISR</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tk_set_flg（タスク独立部）</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00" dirty="0">
                          <a:solidFill>
                            <a:srgbClr val="1B2B30"/>
                          </a:solidFill>
                          <a:latin typeface="Meiryo" pitchFamily="34" charset="0"/>
                          <a:ea typeface="Meiryo" pitchFamily="34" charset="-122"/>
                          <a:cs typeface="Meiryo" pitchFamily="34" charset="-120"/>
                        </a:rPr>
                        <a:t>FSP コールバックは割り込み文脈。BSP2 の HAL と同じ作法で呼ぶ</a:t>
                      </a:r>
                      <a:endParaRPr lang="en-US" sz="10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r>
              <a:tr h="384048">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vTaskDelay(ticks)</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tk_dly_tsk(ms)</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00" dirty="0">
                          <a:solidFill>
                            <a:srgbClr val="1B2B30"/>
                          </a:solidFill>
                          <a:latin typeface="Meiryo" pitchFamily="34" charset="0"/>
                          <a:ea typeface="Meiryo" pitchFamily="34" charset="-122"/>
                          <a:cs typeface="Meiryo" pitchFamily="34" charset="-120"/>
                        </a:rPr>
                        <a:t>1 tick = 1 ms</a:t>
                      </a:r>
                      <a:endParaRPr lang="en-US" sz="10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r>
              <a:tr h="384048">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portMAX_DELAY</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00" dirty="0">
                          <a:solidFill>
                            <a:srgbClr val="1B2B30"/>
                          </a:solidFill>
                          <a:latin typeface="Courier New" pitchFamily="34" charset="0"/>
                          <a:ea typeface="Courier New" pitchFamily="34" charset="-122"/>
                          <a:cs typeface="Courier New" pitchFamily="34" charset="-120"/>
                        </a:rPr>
                        <a:t>TMO_FEVR</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endParaRPr lang="en-US" sz="10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r>
            </a:tbl>
          </a:graphicData>
        </a:graphic>
      </p:graphicFrame>
      <p:sp>
        <p:nvSpPr>
          <p:cNvPr id="5" name="Text 2"/>
          <p:cNvSpPr txBox="1"/>
          <p:nvPr/>
        </p:nvSpPr>
        <p:spPr>
          <a:xfrm>
            <a:off x="457200" y="4251960"/>
            <a:ext cx="8229600" cy="411480"/>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教訓：WaitBits を「何もしないスタブ」にするとタスクが待たずに空回りする。意味まで合わせて置き換えることが重要。</a:t>
            </a:r>
            <a:endParaRPr lang="en-US" sz="1100" dirty="0"/>
          </a:p>
        </p:txBody>
      </p:sp>
      <p:sp>
        <p:nvSpPr>
          <p:cNvPr id="6" name="Text 3"/>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B6B70"/>
                </a:solidFill>
                <a:latin typeface="Meiryo" pitchFamily="34" charset="0"/>
                <a:ea typeface="Meiryo" pitchFamily="34" charset="-122"/>
                <a:cs typeface="Meiryo"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F2A33"/>
                </a:solidFill>
                <a:latin typeface="Meiryo" pitchFamily="34" charset="0"/>
                <a:ea typeface="Meiryo" pitchFamily="34" charset="-122"/>
                <a:cs typeface="Meiryo" pitchFamily="34" charset="-120"/>
              </a:rPr>
              <a:t>最終構成：6タスクで役割を分ける（設計済み）</a:t>
            </a:r>
            <a:endParaRPr lang="en-US" sz="24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dirty="0">
                <a:solidFill>
                  <a:srgbClr val="5B6B70"/>
                </a:solidFill>
                <a:latin typeface="Meiryo" pitchFamily="34" charset="0"/>
                <a:ea typeface="Meiryo" pitchFamily="34" charset="-122"/>
                <a:cs typeface="Meiryo" pitchFamily="34" charset="-120"/>
              </a:rPr>
              <a:t>μT-Kernel は数値が小さいほど高優先。通知を最優先に置き、推論や描画の負荷に左右されない</a:t>
            </a:r>
            <a:endParaRPr lang="en-US" sz="1200" dirty="0"/>
          </a:p>
        </p:txBody>
      </p:sp>
      <p:sp>
        <p:nvSpPr>
          <p:cNvPr id="4" name="Shape 2"/>
          <p:cNvSpPr/>
          <p:nvPr/>
        </p:nvSpPr>
        <p:spPr>
          <a:xfrm>
            <a:off x="548640" y="1353312"/>
            <a:ext cx="420624" cy="420624"/>
          </a:xfrm>
          <a:prstGeom prst="ellipse">
            <a:avLst/>
          </a:prstGeom>
          <a:solidFill>
            <a:srgbClr val="D24B45"/>
          </a:solidFill>
          <a:ln w="12700">
            <a:solidFill>
              <a:srgbClr val="D24B45"/>
            </a:solidFill>
            <a:prstDash val="solid"/>
          </a:ln>
        </p:spPr>
      </p:sp>
      <p:sp>
        <p:nvSpPr>
          <p:cNvPr id="5" name="Text 3"/>
          <p:cNvSpPr txBox="1"/>
          <p:nvPr/>
        </p:nvSpPr>
        <p:spPr>
          <a:xfrm>
            <a:off x="548640" y="13533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6" name="Text 4"/>
          <p:cNvSpPr txBox="1"/>
          <p:nvPr/>
        </p:nvSpPr>
        <p:spPr>
          <a:xfrm>
            <a:off x="1143000" y="1325880"/>
            <a:ext cx="1645920" cy="475488"/>
          </a:xfrm>
          <a:prstGeom prst="rect">
            <a:avLst/>
          </a:prstGeom>
          <a:noFill/>
          <a:ln/>
        </p:spPr>
        <p:txBody>
          <a:bodyPr wrap="square" lIns="0" tIns="0" rIns="0" bIns="0" rtlCol="0" anchor="ctr"/>
          <a:lstStyle/>
          <a:p>
            <a:pPr indent="0" marL="0">
              <a:buNone/>
            </a:pPr>
            <a:r>
              <a:rPr lang="en-US" sz="1300" b="1" dirty="0">
                <a:solidFill>
                  <a:srgbClr val="0F2A33"/>
                </a:solidFill>
                <a:latin typeface="Meiryo" pitchFamily="34" charset="0"/>
                <a:ea typeface="Meiryo" pitchFamily="34" charset="-122"/>
                <a:cs typeface="Meiryo" pitchFamily="34" charset="-120"/>
              </a:rPr>
              <a:t>アラート</a:t>
            </a:r>
            <a:endParaRPr lang="en-US" sz="1300" dirty="0"/>
          </a:p>
        </p:txBody>
      </p:sp>
      <p:sp>
        <p:nvSpPr>
          <p:cNvPr id="7" name="Text 5"/>
          <p:cNvSpPr txBox="1"/>
          <p:nvPr/>
        </p:nvSpPr>
        <p:spPr>
          <a:xfrm>
            <a:off x="2788920" y="1325880"/>
            <a:ext cx="5852160" cy="475488"/>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転倒確定で即座に LED 点灯・画面切替・ログ</a:t>
            </a:r>
            <a:endParaRPr lang="en-US" sz="1100" dirty="0"/>
          </a:p>
        </p:txBody>
      </p:sp>
      <p:sp>
        <p:nvSpPr>
          <p:cNvPr id="8" name="Shape 6"/>
          <p:cNvSpPr/>
          <p:nvPr/>
        </p:nvSpPr>
        <p:spPr>
          <a:xfrm>
            <a:off x="1143000" y="1837944"/>
            <a:ext cx="7498080" cy="0"/>
          </a:xfrm>
          <a:prstGeom prst="line">
            <a:avLst/>
          </a:prstGeom>
          <a:noFill/>
          <a:ln w="6350">
            <a:solidFill>
              <a:srgbClr val="C9D6D8"/>
            </a:solidFill>
            <a:prstDash val="solid"/>
          </a:ln>
        </p:spPr>
      </p:sp>
      <p:sp>
        <p:nvSpPr>
          <p:cNvPr id="9" name="Shape 7"/>
          <p:cNvSpPr/>
          <p:nvPr/>
        </p:nvSpPr>
        <p:spPr>
          <a:xfrm>
            <a:off x="548640" y="1901952"/>
            <a:ext cx="420624" cy="420624"/>
          </a:xfrm>
          <a:prstGeom prst="ellipse">
            <a:avLst/>
          </a:prstGeom>
          <a:solidFill>
            <a:srgbClr val="0F2A33"/>
          </a:solidFill>
          <a:ln w="12700">
            <a:solidFill>
              <a:srgbClr val="0F2A33"/>
            </a:solidFill>
            <a:prstDash val="solid"/>
          </a:ln>
        </p:spPr>
      </p:sp>
      <p:sp>
        <p:nvSpPr>
          <p:cNvPr id="10" name="Text 8"/>
          <p:cNvSpPr txBox="1"/>
          <p:nvPr/>
        </p:nvSpPr>
        <p:spPr>
          <a:xfrm>
            <a:off x="548640" y="19019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11" name="Text 9"/>
          <p:cNvSpPr txBox="1"/>
          <p:nvPr/>
        </p:nvSpPr>
        <p:spPr>
          <a:xfrm>
            <a:off x="1143000" y="1874520"/>
            <a:ext cx="1645920" cy="475488"/>
          </a:xfrm>
          <a:prstGeom prst="rect">
            <a:avLst/>
          </a:prstGeom>
          <a:noFill/>
          <a:ln/>
        </p:spPr>
        <p:txBody>
          <a:bodyPr wrap="square" lIns="0" tIns="0" rIns="0" bIns="0" rtlCol="0" anchor="ctr"/>
          <a:lstStyle/>
          <a:p>
            <a:pPr indent="0" marL="0">
              <a:buNone/>
            </a:pPr>
            <a:r>
              <a:rPr lang="en-US" sz="1300" b="1" dirty="0">
                <a:solidFill>
                  <a:srgbClr val="0F2A33"/>
                </a:solidFill>
                <a:latin typeface="Meiryo" pitchFamily="34" charset="0"/>
                <a:ea typeface="Meiryo" pitchFamily="34" charset="-122"/>
                <a:cs typeface="Meiryo" pitchFamily="34" charset="-120"/>
              </a:rPr>
              <a:t>システム監視</a:t>
            </a:r>
            <a:endParaRPr lang="en-US" sz="1300" dirty="0"/>
          </a:p>
        </p:txBody>
      </p:sp>
      <p:sp>
        <p:nvSpPr>
          <p:cNvPr id="12" name="Text 10"/>
          <p:cNvSpPr txBox="1"/>
          <p:nvPr/>
        </p:nvSpPr>
        <p:spPr>
          <a:xfrm>
            <a:off x="2788920" y="1874520"/>
            <a:ext cx="5852160" cy="475488"/>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周期ハンドラで各タスクの生存・スタック残量を確認</a:t>
            </a:r>
            <a:endParaRPr lang="en-US" sz="1100" dirty="0"/>
          </a:p>
        </p:txBody>
      </p:sp>
      <p:sp>
        <p:nvSpPr>
          <p:cNvPr id="13" name="Shape 11"/>
          <p:cNvSpPr/>
          <p:nvPr/>
        </p:nvSpPr>
        <p:spPr>
          <a:xfrm>
            <a:off x="1143000" y="2386584"/>
            <a:ext cx="7498080" cy="0"/>
          </a:xfrm>
          <a:prstGeom prst="line">
            <a:avLst/>
          </a:prstGeom>
          <a:noFill/>
          <a:ln w="6350">
            <a:solidFill>
              <a:srgbClr val="C9D6D8"/>
            </a:solidFill>
            <a:prstDash val="solid"/>
          </a:ln>
        </p:spPr>
      </p:sp>
      <p:sp>
        <p:nvSpPr>
          <p:cNvPr id="14" name="Shape 12"/>
          <p:cNvSpPr/>
          <p:nvPr/>
        </p:nvSpPr>
        <p:spPr>
          <a:xfrm>
            <a:off x="548640" y="2450592"/>
            <a:ext cx="420624" cy="420624"/>
          </a:xfrm>
          <a:prstGeom prst="ellipse">
            <a:avLst/>
          </a:prstGeom>
          <a:solidFill>
            <a:srgbClr val="1F6F78"/>
          </a:solidFill>
          <a:ln w="12700">
            <a:solidFill>
              <a:srgbClr val="1F6F78"/>
            </a:solidFill>
            <a:prstDash val="solid"/>
          </a:ln>
        </p:spPr>
      </p:sp>
      <p:sp>
        <p:nvSpPr>
          <p:cNvPr id="15" name="Text 13"/>
          <p:cNvSpPr txBox="1"/>
          <p:nvPr/>
        </p:nvSpPr>
        <p:spPr>
          <a:xfrm>
            <a:off x="548640" y="24505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16" name="Text 14"/>
          <p:cNvSpPr txBox="1"/>
          <p:nvPr/>
        </p:nvSpPr>
        <p:spPr>
          <a:xfrm>
            <a:off x="1143000" y="2423160"/>
            <a:ext cx="1645920" cy="475488"/>
          </a:xfrm>
          <a:prstGeom prst="rect">
            <a:avLst/>
          </a:prstGeom>
          <a:noFill/>
          <a:ln/>
        </p:spPr>
        <p:txBody>
          <a:bodyPr wrap="square" lIns="0" tIns="0" rIns="0" bIns="0" rtlCol="0" anchor="ctr"/>
          <a:lstStyle/>
          <a:p>
            <a:pPr indent="0" marL="0">
              <a:buNone/>
            </a:pPr>
            <a:r>
              <a:rPr lang="en-US" sz="1300" b="1" dirty="0">
                <a:solidFill>
                  <a:srgbClr val="0F2A33"/>
                </a:solidFill>
                <a:latin typeface="Meiryo" pitchFamily="34" charset="0"/>
                <a:ea typeface="Meiryo" pitchFamily="34" charset="-122"/>
                <a:cs typeface="Meiryo" pitchFamily="34" charset="-120"/>
              </a:rPr>
              <a:t>カメラ取得</a:t>
            </a:r>
            <a:endParaRPr lang="en-US" sz="1300" dirty="0"/>
          </a:p>
        </p:txBody>
      </p:sp>
      <p:sp>
        <p:nvSpPr>
          <p:cNvPr id="17" name="Text 15"/>
          <p:cNvSpPr txBox="1"/>
          <p:nvPr/>
        </p:nvSpPr>
        <p:spPr>
          <a:xfrm>
            <a:off x="2788920" y="2423160"/>
            <a:ext cx="5852160" cy="475488"/>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フレーム完了割り込み → バッファ切替・前処理</a:t>
            </a:r>
            <a:endParaRPr lang="en-US" sz="1100" dirty="0"/>
          </a:p>
        </p:txBody>
      </p:sp>
      <p:sp>
        <p:nvSpPr>
          <p:cNvPr id="18" name="Shape 16"/>
          <p:cNvSpPr/>
          <p:nvPr/>
        </p:nvSpPr>
        <p:spPr>
          <a:xfrm>
            <a:off x="1143000" y="2935224"/>
            <a:ext cx="7498080" cy="0"/>
          </a:xfrm>
          <a:prstGeom prst="line">
            <a:avLst/>
          </a:prstGeom>
          <a:noFill/>
          <a:ln w="6350">
            <a:solidFill>
              <a:srgbClr val="C9D6D8"/>
            </a:solidFill>
            <a:prstDash val="solid"/>
          </a:ln>
        </p:spPr>
      </p:sp>
      <p:sp>
        <p:nvSpPr>
          <p:cNvPr id="19" name="Shape 17"/>
          <p:cNvSpPr/>
          <p:nvPr/>
        </p:nvSpPr>
        <p:spPr>
          <a:xfrm>
            <a:off x="548640" y="2999232"/>
            <a:ext cx="420624" cy="420624"/>
          </a:xfrm>
          <a:prstGeom prst="ellipse">
            <a:avLst/>
          </a:prstGeom>
          <a:solidFill>
            <a:srgbClr val="1F6F78"/>
          </a:solidFill>
          <a:ln w="12700">
            <a:solidFill>
              <a:srgbClr val="1F6F78"/>
            </a:solidFill>
            <a:prstDash val="solid"/>
          </a:ln>
        </p:spPr>
      </p:sp>
      <p:sp>
        <p:nvSpPr>
          <p:cNvPr id="20" name="Text 18"/>
          <p:cNvSpPr txBox="1"/>
          <p:nvPr/>
        </p:nvSpPr>
        <p:spPr>
          <a:xfrm>
            <a:off x="548640" y="299923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11</a:t>
            </a:r>
            <a:endParaRPr lang="en-US" sz="1300" dirty="0"/>
          </a:p>
        </p:txBody>
      </p:sp>
      <p:sp>
        <p:nvSpPr>
          <p:cNvPr id="21" name="Text 19"/>
          <p:cNvSpPr txBox="1"/>
          <p:nvPr/>
        </p:nvSpPr>
        <p:spPr>
          <a:xfrm>
            <a:off x="1143000" y="2971800"/>
            <a:ext cx="1645920" cy="475488"/>
          </a:xfrm>
          <a:prstGeom prst="rect">
            <a:avLst/>
          </a:prstGeom>
          <a:noFill/>
          <a:ln/>
        </p:spPr>
        <p:txBody>
          <a:bodyPr wrap="square" lIns="0" tIns="0" rIns="0" bIns="0" rtlCol="0" anchor="ctr"/>
          <a:lstStyle/>
          <a:p>
            <a:pPr indent="0" marL="0">
              <a:buNone/>
            </a:pPr>
            <a:r>
              <a:rPr lang="en-US" sz="1300" b="1" dirty="0">
                <a:solidFill>
                  <a:srgbClr val="0F2A33"/>
                </a:solidFill>
                <a:latin typeface="Meiryo" pitchFamily="34" charset="0"/>
                <a:ea typeface="Meiryo" pitchFamily="34" charset="-122"/>
                <a:cs typeface="Meiryo" pitchFamily="34" charset="-120"/>
              </a:rPr>
              <a:t>転倒判定</a:t>
            </a:r>
            <a:endParaRPr lang="en-US" sz="1300" dirty="0"/>
          </a:p>
        </p:txBody>
      </p:sp>
      <p:sp>
        <p:nvSpPr>
          <p:cNvPr id="22" name="Text 20"/>
          <p:cNvSpPr txBox="1"/>
          <p:nvPr/>
        </p:nvSpPr>
        <p:spPr>
          <a:xfrm>
            <a:off x="2788920" y="2971800"/>
            <a:ext cx="5852160" cy="475488"/>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検出枠の時系列から状態を判定</a:t>
            </a:r>
            <a:endParaRPr lang="en-US" sz="1100" dirty="0"/>
          </a:p>
        </p:txBody>
      </p:sp>
      <p:sp>
        <p:nvSpPr>
          <p:cNvPr id="23" name="Shape 21"/>
          <p:cNvSpPr/>
          <p:nvPr/>
        </p:nvSpPr>
        <p:spPr>
          <a:xfrm>
            <a:off x="1143000" y="3483864"/>
            <a:ext cx="7498080" cy="0"/>
          </a:xfrm>
          <a:prstGeom prst="line">
            <a:avLst/>
          </a:prstGeom>
          <a:noFill/>
          <a:ln w="6350">
            <a:solidFill>
              <a:srgbClr val="C9D6D8"/>
            </a:solidFill>
            <a:prstDash val="solid"/>
          </a:ln>
        </p:spPr>
      </p:sp>
      <p:sp>
        <p:nvSpPr>
          <p:cNvPr id="24" name="Shape 22"/>
          <p:cNvSpPr/>
          <p:nvPr/>
        </p:nvSpPr>
        <p:spPr>
          <a:xfrm>
            <a:off x="548640" y="3547872"/>
            <a:ext cx="420624" cy="420624"/>
          </a:xfrm>
          <a:prstGeom prst="ellipse">
            <a:avLst/>
          </a:prstGeom>
          <a:solidFill>
            <a:srgbClr val="E89B2F"/>
          </a:solidFill>
          <a:ln w="12700">
            <a:solidFill>
              <a:srgbClr val="E89B2F"/>
            </a:solidFill>
            <a:prstDash val="solid"/>
          </a:ln>
        </p:spPr>
      </p:sp>
      <p:sp>
        <p:nvSpPr>
          <p:cNvPr id="25" name="Text 23"/>
          <p:cNvSpPr txBox="1"/>
          <p:nvPr/>
        </p:nvSpPr>
        <p:spPr>
          <a:xfrm>
            <a:off x="548640" y="3547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12</a:t>
            </a:r>
            <a:endParaRPr lang="en-US" sz="1300" dirty="0"/>
          </a:p>
        </p:txBody>
      </p:sp>
      <p:sp>
        <p:nvSpPr>
          <p:cNvPr id="26" name="Text 24"/>
          <p:cNvSpPr txBox="1"/>
          <p:nvPr/>
        </p:nvSpPr>
        <p:spPr>
          <a:xfrm>
            <a:off x="1143000" y="3520440"/>
            <a:ext cx="1645920" cy="475488"/>
          </a:xfrm>
          <a:prstGeom prst="rect">
            <a:avLst/>
          </a:prstGeom>
          <a:noFill/>
          <a:ln/>
        </p:spPr>
        <p:txBody>
          <a:bodyPr wrap="square" lIns="0" tIns="0" rIns="0" bIns="0" rtlCol="0" anchor="ctr"/>
          <a:lstStyle/>
          <a:p>
            <a:pPr indent="0" marL="0">
              <a:buNone/>
            </a:pPr>
            <a:r>
              <a:rPr lang="en-US" sz="1300" b="1" dirty="0">
                <a:solidFill>
                  <a:srgbClr val="0F2A33"/>
                </a:solidFill>
                <a:latin typeface="Meiryo" pitchFamily="34" charset="0"/>
                <a:ea typeface="Meiryo" pitchFamily="34" charset="-122"/>
                <a:cs typeface="Meiryo" pitchFamily="34" charset="-120"/>
              </a:rPr>
              <a:t>AI 推論</a:t>
            </a:r>
            <a:endParaRPr lang="en-US" sz="1300" dirty="0"/>
          </a:p>
        </p:txBody>
      </p:sp>
      <p:sp>
        <p:nvSpPr>
          <p:cNvPr id="27" name="Text 25"/>
          <p:cNvSpPr txBox="1"/>
          <p:nvPr/>
        </p:nvSpPr>
        <p:spPr>
          <a:xfrm>
            <a:off x="2788920" y="3520440"/>
            <a:ext cx="5852160" cy="475488"/>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Ethos-U55 で推論 → 検出枠をメッセージバッファへ</a:t>
            </a:r>
            <a:endParaRPr lang="en-US" sz="1100" dirty="0"/>
          </a:p>
        </p:txBody>
      </p:sp>
      <p:sp>
        <p:nvSpPr>
          <p:cNvPr id="28" name="Shape 26"/>
          <p:cNvSpPr/>
          <p:nvPr/>
        </p:nvSpPr>
        <p:spPr>
          <a:xfrm>
            <a:off x="1143000" y="4032504"/>
            <a:ext cx="7498080" cy="0"/>
          </a:xfrm>
          <a:prstGeom prst="line">
            <a:avLst/>
          </a:prstGeom>
          <a:noFill/>
          <a:ln w="6350">
            <a:solidFill>
              <a:srgbClr val="C9D6D8"/>
            </a:solidFill>
            <a:prstDash val="solid"/>
          </a:ln>
        </p:spPr>
      </p:sp>
      <p:sp>
        <p:nvSpPr>
          <p:cNvPr id="29" name="Shape 27"/>
          <p:cNvSpPr/>
          <p:nvPr/>
        </p:nvSpPr>
        <p:spPr>
          <a:xfrm>
            <a:off x="548640" y="4096512"/>
            <a:ext cx="420624" cy="420624"/>
          </a:xfrm>
          <a:prstGeom prst="ellipse">
            <a:avLst/>
          </a:prstGeom>
          <a:solidFill>
            <a:srgbClr val="3E9E6B"/>
          </a:solidFill>
          <a:ln w="12700">
            <a:solidFill>
              <a:srgbClr val="3E9E6B"/>
            </a:solidFill>
            <a:prstDash val="solid"/>
          </a:ln>
        </p:spPr>
      </p:sp>
      <p:sp>
        <p:nvSpPr>
          <p:cNvPr id="30" name="Text 28"/>
          <p:cNvSpPr txBox="1"/>
          <p:nvPr/>
        </p:nvSpPr>
        <p:spPr>
          <a:xfrm>
            <a:off x="548640" y="4096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14</a:t>
            </a:r>
            <a:endParaRPr lang="en-US" sz="1300" dirty="0"/>
          </a:p>
        </p:txBody>
      </p:sp>
      <p:sp>
        <p:nvSpPr>
          <p:cNvPr id="31" name="Text 29"/>
          <p:cNvSpPr txBox="1"/>
          <p:nvPr/>
        </p:nvSpPr>
        <p:spPr>
          <a:xfrm>
            <a:off x="1143000" y="4069080"/>
            <a:ext cx="1645920" cy="475488"/>
          </a:xfrm>
          <a:prstGeom prst="rect">
            <a:avLst/>
          </a:prstGeom>
          <a:noFill/>
          <a:ln/>
        </p:spPr>
        <p:txBody>
          <a:bodyPr wrap="square" lIns="0" tIns="0" rIns="0" bIns="0" rtlCol="0" anchor="ctr"/>
          <a:lstStyle/>
          <a:p>
            <a:pPr indent="0" marL="0">
              <a:buNone/>
            </a:pPr>
            <a:r>
              <a:rPr lang="en-US" sz="1300" b="1" dirty="0">
                <a:solidFill>
                  <a:srgbClr val="0F2A33"/>
                </a:solidFill>
                <a:latin typeface="Meiryo" pitchFamily="34" charset="0"/>
                <a:ea typeface="Meiryo" pitchFamily="34" charset="-122"/>
                <a:cs typeface="Meiryo" pitchFamily="34" charset="-120"/>
              </a:rPr>
              <a:t>UI 描画</a:t>
            </a:r>
            <a:endParaRPr lang="en-US" sz="1300" dirty="0"/>
          </a:p>
        </p:txBody>
      </p:sp>
      <p:sp>
        <p:nvSpPr>
          <p:cNvPr id="32" name="Text 30"/>
          <p:cNvSpPr txBox="1"/>
          <p:nvPr/>
        </p:nvSpPr>
        <p:spPr>
          <a:xfrm>
            <a:off x="2788920" y="4069080"/>
            <a:ext cx="5852160" cy="475488"/>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状態と抽象化した検出枠を描画（生映像なし）</a:t>
            </a:r>
            <a:endParaRPr lang="en-US" sz="1100" dirty="0"/>
          </a:p>
        </p:txBody>
      </p:sp>
      <p:sp>
        <p:nvSpPr>
          <p:cNvPr id="33" name="Text 31"/>
          <p:cNvSpPr txBox="1"/>
          <p:nvPr/>
        </p:nvSpPr>
        <p:spPr>
          <a:xfrm>
            <a:off x="548640" y="4617720"/>
            <a:ext cx="7863840" cy="274320"/>
          </a:xfrm>
          <a:prstGeom prst="rect">
            <a:avLst/>
          </a:prstGeom>
          <a:noFill/>
          <a:ln/>
        </p:spPr>
        <p:txBody>
          <a:bodyPr wrap="square" lIns="0" tIns="0" rIns="0" bIns="0" rtlCol="0" anchor="ctr"/>
          <a:lstStyle/>
          <a:p>
            <a:pPr indent="0" marL="0">
              <a:buNone/>
            </a:pPr>
            <a:r>
              <a:rPr lang="en-US" sz="950" dirty="0">
                <a:solidFill>
                  <a:srgbClr val="5B6B70"/>
                </a:solidFill>
                <a:latin typeface="Meiryo" pitchFamily="34" charset="0"/>
                <a:ea typeface="Meiryo" pitchFamily="34" charset="-122"/>
                <a:cs typeface="Meiryo" pitchFamily="34" charset="-120"/>
              </a:rPr>
              <a:t>同期：割り込み→イベントフラグ、推論→判定はメッセージバッファ、判定→アラートはイベントフラグ</a:t>
            </a:r>
            <a:endParaRPr lang="en-US" sz="950" dirty="0"/>
          </a:p>
        </p:txBody>
      </p:sp>
      <p:sp>
        <p:nvSpPr>
          <p:cNvPr id="34" name="Text 3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B6B70"/>
                </a:solidFill>
                <a:latin typeface="Meiryo" pitchFamily="34" charset="0"/>
                <a:ea typeface="Meiryo" pitchFamily="34" charset="-122"/>
                <a:cs typeface="Meiry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F2A33"/>
                </a:solidFill>
                <a:latin typeface="Meiryo" pitchFamily="34" charset="0"/>
                <a:ea typeface="Meiryo" pitchFamily="34" charset="-122"/>
                <a:cs typeface="Meiryo" pitchFamily="34" charset="-120"/>
              </a:rPr>
              <a:t>転倒判定：検出枠の「形」と「時間」で判断</a:t>
            </a:r>
            <a:endParaRPr lang="en-US" sz="24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dirty="0">
                <a:solidFill>
                  <a:srgbClr val="5B6B70"/>
                </a:solidFill>
                <a:latin typeface="Meiryo" pitchFamily="34" charset="0"/>
                <a:ea typeface="Meiryo" pitchFamily="34" charset="-122"/>
                <a:cs typeface="Meiryo" pitchFamily="34" charset="-120"/>
              </a:rPr>
              <a:t>物体検出の結果を状態遷移で判定する（設計済み・代替機到着後に実装）</a:t>
            </a:r>
            <a:endParaRPr lang="en-US" sz="1200" dirty="0"/>
          </a:p>
        </p:txBody>
      </p:sp>
      <p:sp>
        <p:nvSpPr>
          <p:cNvPr id="4" name="Shape 2"/>
          <p:cNvSpPr/>
          <p:nvPr/>
        </p:nvSpPr>
        <p:spPr>
          <a:xfrm>
            <a:off x="457200" y="1828800"/>
            <a:ext cx="1554480" cy="914400"/>
          </a:xfrm>
          <a:prstGeom prst="ellipse">
            <a:avLst/>
          </a:prstGeom>
          <a:solidFill>
            <a:srgbClr val="3E9E6B"/>
          </a:solidFill>
          <a:ln w="12700">
            <a:solidFill>
              <a:srgbClr val="3E9E6B"/>
            </a:solidFill>
            <a:prstDash val="solid"/>
          </a:ln>
        </p:spPr>
      </p:sp>
      <p:sp>
        <p:nvSpPr>
          <p:cNvPr id="5" name="Text 3"/>
          <p:cNvSpPr txBox="1"/>
          <p:nvPr/>
        </p:nvSpPr>
        <p:spPr>
          <a:xfrm>
            <a:off x="457200" y="182880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NORMAL</a:t>
            </a:r>
            <a:endParaRPr lang="en-US" sz="1200" dirty="0"/>
          </a:p>
        </p:txBody>
      </p:sp>
      <p:sp>
        <p:nvSpPr>
          <p:cNvPr id="6" name="Shape 4"/>
          <p:cNvSpPr/>
          <p:nvPr/>
        </p:nvSpPr>
        <p:spPr>
          <a:xfrm>
            <a:off x="2926080" y="1828800"/>
            <a:ext cx="1554480" cy="914400"/>
          </a:xfrm>
          <a:prstGeom prst="ellipse">
            <a:avLst/>
          </a:prstGeom>
          <a:solidFill>
            <a:srgbClr val="E89B2F"/>
          </a:solidFill>
          <a:ln w="12700">
            <a:solidFill>
              <a:srgbClr val="E89B2F"/>
            </a:solidFill>
            <a:prstDash val="solid"/>
          </a:ln>
        </p:spPr>
      </p:sp>
      <p:sp>
        <p:nvSpPr>
          <p:cNvPr id="7" name="Text 5"/>
          <p:cNvSpPr txBox="1"/>
          <p:nvPr/>
        </p:nvSpPr>
        <p:spPr>
          <a:xfrm>
            <a:off x="2926080" y="182880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SUSPICIOUS</a:t>
            </a:r>
            <a:endParaRPr lang="en-US" sz="1200" dirty="0"/>
          </a:p>
        </p:txBody>
      </p:sp>
      <p:sp>
        <p:nvSpPr>
          <p:cNvPr id="8" name="Shape 6"/>
          <p:cNvSpPr/>
          <p:nvPr/>
        </p:nvSpPr>
        <p:spPr>
          <a:xfrm>
            <a:off x="5394960" y="1828800"/>
            <a:ext cx="1554480" cy="914400"/>
          </a:xfrm>
          <a:prstGeom prst="ellipse">
            <a:avLst/>
          </a:prstGeom>
          <a:solidFill>
            <a:srgbClr val="D24B45"/>
          </a:solidFill>
          <a:ln w="12700">
            <a:solidFill>
              <a:srgbClr val="D24B45"/>
            </a:solidFill>
            <a:prstDash val="solid"/>
          </a:ln>
        </p:spPr>
      </p:sp>
      <p:sp>
        <p:nvSpPr>
          <p:cNvPr id="9" name="Text 7"/>
          <p:cNvSpPr txBox="1"/>
          <p:nvPr/>
        </p:nvSpPr>
        <p:spPr>
          <a:xfrm>
            <a:off x="5394960" y="182880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FALLEN</a:t>
            </a:r>
            <a:endParaRPr lang="en-US" sz="1200" dirty="0"/>
          </a:p>
        </p:txBody>
      </p:sp>
      <p:sp>
        <p:nvSpPr>
          <p:cNvPr id="10" name="Shape 8"/>
          <p:cNvSpPr/>
          <p:nvPr/>
        </p:nvSpPr>
        <p:spPr>
          <a:xfrm>
            <a:off x="2011680" y="2103120"/>
            <a:ext cx="914400" cy="914"/>
          </a:xfrm>
          <a:prstGeom prst="line">
            <a:avLst/>
          </a:prstGeom>
          <a:noFill/>
          <a:ln w="19050">
            <a:solidFill>
              <a:srgbClr val="1F6F78"/>
            </a:solidFill>
            <a:prstDash val="solid"/>
            <a:tailEnd type="triangle"/>
          </a:ln>
        </p:spPr>
      </p:sp>
      <p:sp>
        <p:nvSpPr>
          <p:cNvPr id="11" name="Text 9"/>
          <p:cNvSpPr txBox="1"/>
          <p:nvPr/>
        </p:nvSpPr>
        <p:spPr>
          <a:xfrm>
            <a:off x="1920240" y="1325880"/>
            <a:ext cx="1097280" cy="685800"/>
          </a:xfrm>
          <a:prstGeom prst="rect">
            <a:avLst/>
          </a:prstGeom>
          <a:noFill/>
          <a:ln/>
        </p:spPr>
        <p:txBody>
          <a:bodyPr wrap="square" lIns="0" tIns="0" rIns="0" bIns="0" rtlCol="0" anchor="ctr"/>
          <a:lstStyle/>
          <a:p>
            <a:pPr algn="ctr" indent="0" marL="0">
              <a:buNone/>
            </a:pPr>
            <a:r>
              <a:rPr lang="en-US" sz="900" dirty="0">
                <a:solidFill>
                  <a:srgbClr val="1B2B30"/>
                </a:solidFill>
                <a:latin typeface="Meiryo" pitchFamily="34" charset="0"/>
                <a:ea typeface="Meiryo" pitchFamily="34" charset="-122"/>
                <a:cs typeface="Meiryo" pitchFamily="34" charset="-120"/>
              </a:rPr>
              <a:t>横長に変化</a:t>
            </a:r>
            <a:endParaRPr lang="en-US" sz="900" dirty="0"/>
          </a:p>
          <a:p>
            <a:pPr algn="ctr" indent="0" marL="0">
              <a:buNone/>
            </a:pPr>
            <a:r>
              <a:rPr lang="en-US" sz="900" dirty="0">
                <a:solidFill>
                  <a:srgbClr val="1B2B30"/>
                </a:solidFill>
                <a:latin typeface="Meiryo" pitchFamily="34" charset="0"/>
                <a:ea typeface="Meiryo" pitchFamily="34" charset="-122"/>
                <a:cs typeface="Meiryo" pitchFamily="34" charset="-120"/>
              </a:rPr>
              <a:t>h/w &lt; 0.8</a:t>
            </a:r>
            <a:endParaRPr lang="en-US" sz="900" dirty="0"/>
          </a:p>
        </p:txBody>
      </p:sp>
      <p:sp>
        <p:nvSpPr>
          <p:cNvPr id="12" name="Shape 10"/>
          <p:cNvSpPr/>
          <p:nvPr/>
        </p:nvSpPr>
        <p:spPr>
          <a:xfrm flipH="1">
            <a:off x="2011680" y="2514600"/>
            <a:ext cx="914400" cy="914"/>
          </a:xfrm>
          <a:prstGeom prst="line">
            <a:avLst/>
          </a:prstGeom>
          <a:noFill/>
          <a:ln w="19050">
            <a:solidFill>
              <a:srgbClr val="1F6F78"/>
            </a:solidFill>
            <a:prstDash val="solid"/>
            <a:tailEnd type="triangle"/>
          </a:ln>
        </p:spPr>
      </p:sp>
      <p:sp>
        <p:nvSpPr>
          <p:cNvPr id="13" name="Text 11"/>
          <p:cNvSpPr txBox="1"/>
          <p:nvPr/>
        </p:nvSpPr>
        <p:spPr>
          <a:xfrm>
            <a:off x="1920240" y="2606040"/>
            <a:ext cx="1097280" cy="548640"/>
          </a:xfrm>
          <a:prstGeom prst="rect">
            <a:avLst/>
          </a:prstGeom>
          <a:noFill/>
          <a:ln/>
        </p:spPr>
        <p:txBody>
          <a:bodyPr wrap="square" lIns="0" tIns="0" rIns="0" bIns="0" rtlCol="0" anchor="ctr"/>
          <a:lstStyle/>
          <a:p>
            <a:pPr algn="ctr" indent="0" marL="0">
              <a:buNone/>
            </a:pPr>
            <a:r>
              <a:rPr lang="en-US" sz="900" dirty="0">
                <a:solidFill>
                  <a:srgbClr val="1B2B30"/>
                </a:solidFill>
                <a:latin typeface="Meiryo" pitchFamily="34" charset="0"/>
                <a:ea typeface="Meiryo" pitchFamily="34" charset="-122"/>
                <a:cs typeface="Meiryo" pitchFamily="34" charset="-120"/>
              </a:rPr>
              <a:t>縦長に戻る</a:t>
            </a:r>
            <a:endParaRPr lang="en-US" sz="900" dirty="0"/>
          </a:p>
          <a:p>
            <a:pPr algn="ctr" indent="0" marL="0">
              <a:buNone/>
            </a:pPr>
            <a:r>
              <a:rPr lang="en-US" sz="900" dirty="0">
                <a:solidFill>
                  <a:srgbClr val="1B2B30"/>
                </a:solidFill>
                <a:latin typeface="Meiryo" pitchFamily="34" charset="0"/>
                <a:ea typeface="Meiryo" pitchFamily="34" charset="-122"/>
                <a:cs typeface="Meiryo" pitchFamily="34" charset="-120"/>
              </a:rPr>
              <a:t>h/w ≥ 1.2</a:t>
            </a:r>
            <a:endParaRPr lang="en-US" sz="900" dirty="0"/>
          </a:p>
        </p:txBody>
      </p:sp>
      <p:sp>
        <p:nvSpPr>
          <p:cNvPr id="14" name="Shape 12"/>
          <p:cNvSpPr/>
          <p:nvPr/>
        </p:nvSpPr>
        <p:spPr>
          <a:xfrm>
            <a:off x="4480560" y="2286000"/>
            <a:ext cx="914400" cy="914"/>
          </a:xfrm>
          <a:prstGeom prst="line">
            <a:avLst/>
          </a:prstGeom>
          <a:noFill/>
          <a:ln w="19050">
            <a:solidFill>
              <a:srgbClr val="1F6F78"/>
            </a:solidFill>
            <a:prstDash val="solid"/>
            <a:tailEnd type="triangle"/>
          </a:ln>
        </p:spPr>
      </p:sp>
      <p:sp>
        <p:nvSpPr>
          <p:cNvPr id="15" name="Text 13"/>
          <p:cNvSpPr txBox="1"/>
          <p:nvPr/>
        </p:nvSpPr>
        <p:spPr>
          <a:xfrm>
            <a:off x="4389120" y="1463040"/>
            <a:ext cx="1097280" cy="685800"/>
          </a:xfrm>
          <a:prstGeom prst="rect">
            <a:avLst/>
          </a:prstGeom>
          <a:noFill/>
          <a:ln/>
        </p:spPr>
        <p:txBody>
          <a:bodyPr wrap="square" lIns="0" tIns="0" rIns="0" bIns="0" rtlCol="0" anchor="ctr"/>
          <a:lstStyle/>
          <a:p>
            <a:pPr algn="ctr" indent="0" marL="0">
              <a:buNone/>
            </a:pPr>
            <a:r>
              <a:rPr lang="en-US" sz="900" dirty="0">
                <a:solidFill>
                  <a:srgbClr val="1B2B30"/>
                </a:solidFill>
                <a:latin typeface="Meiryo" pitchFamily="34" charset="0"/>
                <a:ea typeface="Meiryo" pitchFamily="34" charset="-122"/>
                <a:cs typeface="Meiryo" pitchFamily="34" charset="-120"/>
              </a:rPr>
              <a:t>横長が</a:t>
            </a:r>
            <a:endParaRPr lang="en-US" sz="900" dirty="0"/>
          </a:p>
          <a:p>
            <a:pPr algn="ctr" indent="0" marL="0">
              <a:buNone/>
            </a:pPr>
            <a:r>
              <a:rPr lang="en-US" sz="900" dirty="0">
                <a:solidFill>
                  <a:srgbClr val="1B2B30"/>
                </a:solidFill>
                <a:latin typeface="Meiryo" pitchFamily="34" charset="0"/>
                <a:ea typeface="Meiryo" pitchFamily="34" charset="-122"/>
                <a:cs typeface="Meiryo" pitchFamily="34" charset="-120"/>
              </a:rPr>
              <a:t>3秒以上継続</a:t>
            </a:r>
            <a:endParaRPr lang="en-US" sz="900" dirty="0"/>
          </a:p>
        </p:txBody>
      </p:sp>
      <p:sp>
        <p:nvSpPr>
          <p:cNvPr id="16" name="Shape 14"/>
          <p:cNvSpPr/>
          <p:nvPr/>
        </p:nvSpPr>
        <p:spPr>
          <a:xfrm>
            <a:off x="6172200" y="2743200"/>
            <a:ext cx="0" cy="365760"/>
          </a:xfrm>
          <a:prstGeom prst="line">
            <a:avLst/>
          </a:prstGeom>
          <a:noFill/>
          <a:ln w="12700">
            <a:solidFill>
              <a:srgbClr val="5B6B70"/>
            </a:solidFill>
            <a:prstDash val="dash"/>
          </a:ln>
        </p:spPr>
      </p:sp>
      <p:sp>
        <p:nvSpPr>
          <p:cNvPr id="17" name="Shape 15"/>
          <p:cNvSpPr/>
          <p:nvPr/>
        </p:nvSpPr>
        <p:spPr>
          <a:xfrm>
            <a:off x="1234440" y="3108960"/>
            <a:ext cx="4937760" cy="0"/>
          </a:xfrm>
          <a:prstGeom prst="line">
            <a:avLst/>
          </a:prstGeom>
          <a:noFill/>
          <a:ln w="12700">
            <a:solidFill>
              <a:srgbClr val="5B6B70"/>
            </a:solidFill>
            <a:prstDash val="dash"/>
          </a:ln>
        </p:spPr>
      </p:sp>
      <p:sp>
        <p:nvSpPr>
          <p:cNvPr id="18" name="Shape 16"/>
          <p:cNvSpPr/>
          <p:nvPr/>
        </p:nvSpPr>
        <p:spPr>
          <a:xfrm flipV="1">
            <a:off x="1234440" y="2743200"/>
            <a:ext cx="0" cy="365760"/>
          </a:xfrm>
          <a:prstGeom prst="line">
            <a:avLst/>
          </a:prstGeom>
          <a:noFill/>
          <a:ln w="12700">
            <a:solidFill>
              <a:srgbClr val="5B6B70"/>
            </a:solidFill>
            <a:prstDash val="dash"/>
            <a:tailEnd type="triangle"/>
          </a:ln>
        </p:spPr>
      </p:sp>
      <p:sp>
        <p:nvSpPr>
          <p:cNvPr id="19" name="Text 17"/>
          <p:cNvSpPr txBox="1"/>
          <p:nvPr/>
        </p:nvSpPr>
        <p:spPr>
          <a:xfrm>
            <a:off x="2377440" y="3182112"/>
            <a:ext cx="2377440" cy="274320"/>
          </a:xfrm>
          <a:prstGeom prst="rect">
            <a:avLst/>
          </a:prstGeom>
          <a:noFill/>
          <a:ln/>
        </p:spPr>
        <p:txBody>
          <a:bodyPr wrap="square" lIns="0" tIns="0" rIns="0" bIns="0" rtlCol="0" anchor="ctr"/>
          <a:lstStyle/>
          <a:p>
            <a:pPr algn="ctr" indent="0" marL="0">
              <a:buNone/>
            </a:pPr>
            <a:r>
              <a:rPr lang="en-US" sz="900" dirty="0">
                <a:solidFill>
                  <a:srgbClr val="5B6B70"/>
                </a:solidFill>
                <a:latin typeface="Meiryo" pitchFamily="34" charset="0"/>
                <a:ea typeface="Meiryo" pitchFamily="34" charset="-122"/>
                <a:cs typeface="Meiryo" pitchFamily="34" charset="-120"/>
              </a:rPr>
              <a:t>起き上がる（h/w ≥ 1.2）</a:t>
            </a:r>
            <a:endParaRPr lang="en-US" sz="900" dirty="0"/>
          </a:p>
        </p:txBody>
      </p:sp>
      <p:sp>
        <p:nvSpPr>
          <p:cNvPr id="20" name="Shape 18"/>
          <p:cNvSpPr/>
          <p:nvPr/>
        </p:nvSpPr>
        <p:spPr>
          <a:xfrm>
            <a:off x="6949440" y="2286000"/>
            <a:ext cx="457200" cy="914"/>
          </a:xfrm>
          <a:prstGeom prst="line">
            <a:avLst/>
          </a:prstGeom>
          <a:noFill/>
          <a:ln w="19050">
            <a:solidFill>
              <a:srgbClr val="D24B45"/>
            </a:solidFill>
            <a:prstDash val="solid"/>
            <a:tailEnd type="triangle"/>
          </a:ln>
        </p:spPr>
      </p:sp>
      <p:sp>
        <p:nvSpPr>
          <p:cNvPr id="21" name="Text 19"/>
          <p:cNvSpPr txBox="1"/>
          <p:nvPr/>
        </p:nvSpPr>
        <p:spPr>
          <a:xfrm>
            <a:off x="7406640" y="2011680"/>
            <a:ext cx="1280160" cy="548640"/>
          </a:xfrm>
          <a:prstGeom prst="rect">
            <a:avLst/>
          </a:prstGeom>
          <a:noFill/>
          <a:ln/>
        </p:spPr>
        <p:txBody>
          <a:bodyPr wrap="square" lIns="0" tIns="0" rIns="0" bIns="0" rtlCol="0" anchor="ctr"/>
          <a:lstStyle/>
          <a:p>
            <a:pPr indent="0" marL="0">
              <a:buNone/>
            </a:pPr>
            <a:r>
              <a:rPr lang="en-US" sz="1000" b="1" dirty="0">
                <a:solidFill>
                  <a:srgbClr val="D24B45"/>
                </a:solidFill>
                <a:latin typeface="Meiryo" pitchFamily="34" charset="0"/>
                <a:ea typeface="Meiryo" pitchFamily="34" charset="-122"/>
                <a:cs typeface="Meiryo" pitchFamily="34" charset="-120"/>
              </a:rPr>
              <a:t>アラート</a:t>
            </a:r>
            <a:endParaRPr lang="en-US" sz="1000" dirty="0"/>
          </a:p>
          <a:p>
            <a:pPr indent="0" marL="0">
              <a:buNone/>
            </a:pPr>
            <a:r>
              <a:rPr lang="en-US" sz="1000" b="1" dirty="0">
                <a:solidFill>
                  <a:srgbClr val="D24B45"/>
                </a:solidFill>
                <a:latin typeface="Meiryo" pitchFamily="34" charset="0"/>
                <a:ea typeface="Meiryo" pitchFamily="34" charset="-122"/>
                <a:cs typeface="Meiryo" pitchFamily="34" charset="-120"/>
              </a:rPr>
              <a:t>タスク起床</a:t>
            </a:r>
            <a:endParaRPr lang="en-US" sz="1000" dirty="0"/>
          </a:p>
        </p:txBody>
      </p:sp>
      <p:sp>
        <p:nvSpPr>
          <p:cNvPr id="22" name="Shape 20"/>
          <p:cNvSpPr/>
          <p:nvPr/>
        </p:nvSpPr>
        <p:spPr>
          <a:xfrm>
            <a:off x="457200" y="3794760"/>
            <a:ext cx="8229600" cy="868680"/>
          </a:xfrm>
          <a:prstGeom prst="roundRect">
            <a:avLst>
              <a:gd name="adj" fmla="val 8421"/>
            </a:avLst>
          </a:prstGeom>
          <a:solidFill>
            <a:srgbClr val="E3F0F1"/>
          </a:solidFill>
          <a:ln w="9525">
            <a:solidFill>
              <a:srgbClr val="C9D6D8"/>
            </a:solidFill>
            <a:prstDash val="solid"/>
          </a:ln>
        </p:spPr>
      </p:sp>
      <p:sp>
        <p:nvSpPr>
          <p:cNvPr id="23" name="Text 21"/>
          <p:cNvSpPr txBox="1"/>
          <p:nvPr/>
        </p:nvSpPr>
        <p:spPr>
          <a:xfrm>
            <a:off x="640080" y="3840480"/>
            <a:ext cx="7863840" cy="777240"/>
          </a:xfrm>
          <a:prstGeom prst="rect">
            <a:avLst/>
          </a:prstGeom>
          <a:noFill/>
          <a:ln/>
        </p:spPr>
        <p:txBody>
          <a:bodyPr wrap="square" lIns="0" tIns="0" rIns="0" bIns="0" rtlCol="0" anchor="ctr"/>
          <a:lstStyle/>
          <a:p>
            <a:pPr indent="0" marL="0">
              <a:buNone/>
            </a:pPr>
            <a:r>
              <a:rPr lang="en-US" sz="1050" b="1" dirty="0">
                <a:solidFill>
                  <a:srgbClr val="1B2B30"/>
                </a:solidFill>
                <a:latin typeface="Meiryo" pitchFamily="34" charset="0"/>
                <a:ea typeface="Meiryo" pitchFamily="34" charset="-122"/>
                <a:cs typeface="Meiryo" pitchFamily="34" charset="-120"/>
              </a:rPr>
              <a:t>なぜこの方式か：</a:t>
            </a:r>
            <a:endParaRPr lang="en-US" sz="1050" dirty="0"/>
          </a:p>
          <a:p>
            <a:pPr indent="0" marL="0">
              <a:buNone/>
            </a:pPr>
            <a:r>
              <a:rPr lang="en-US" sz="1050" dirty="0">
                <a:solidFill>
                  <a:srgbClr val="1B2B30"/>
                </a:solidFill>
                <a:latin typeface="Meiryo" pitchFamily="34" charset="0"/>
                <a:ea typeface="Meiryo" pitchFamily="34" charset="-122"/>
                <a:cs typeface="Meiryo" pitchFamily="34" charset="-120"/>
              </a:rPr>
              <a:t>姿勢推定モデルより変換・後処理のリスクが小さく、短期間で確実に動かせる。「しゃがむ・座る」の誤報は継続時間の条件で抑え、しきい値は実機評価で調整する。</a:t>
            </a:r>
            <a:endParaRPr lang="en-US" sz="1050" dirty="0"/>
          </a:p>
        </p:txBody>
      </p:sp>
      <p:sp>
        <p:nvSpPr>
          <p:cNvPr id="24" name="Text 2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B6B70"/>
                </a:solidFill>
                <a:latin typeface="Meiryo" pitchFamily="34" charset="0"/>
                <a:ea typeface="Meiryo" pitchFamily="34" charset="-122"/>
                <a:cs typeface="Meiryo"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F2A33"/>
                </a:solidFill>
                <a:latin typeface="Meiryo" pitchFamily="34" charset="0"/>
                <a:ea typeface="Meiryo" pitchFamily="34" charset="-122"/>
                <a:cs typeface="Meiryo" pitchFamily="34" charset="-120"/>
              </a:rPr>
              <a:t>プライバシー保護 UI：状態だけを伝える</a:t>
            </a:r>
            <a:endParaRPr lang="en-US" sz="24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dirty="0">
                <a:solidFill>
                  <a:srgbClr val="5B6B70"/>
                </a:solidFill>
                <a:latin typeface="Meiryo" pitchFamily="34" charset="0"/>
                <a:ea typeface="Meiryo" pitchFamily="34" charset="-122"/>
                <a:cs typeface="Meiryo" pitchFamily="34" charset="-120"/>
              </a:rPr>
              <a:t>LCD 表示のイメージ（設計）</a:t>
            </a:r>
            <a:endParaRPr lang="en-US" sz="1200" dirty="0"/>
          </a:p>
        </p:txBody>
      </p:sp>
      <p:sp>
        <p:nvSpPr>
          <p:cNvPr id="4" name="Shape 2"/>
          <p:cNvSpPr/>
          <p:nvPr/>
        </p:nvSpPr>
        <p:spPr>
          <a:xfrm>
            <a:off x="457200" y="1371600"/>
            <a:ext cx="2606040" cy="1737360"/>
          </a:xfrm>
          <a:prstGeom prst="roundRect">
            <a:avLst>
              <a:gd name="adj" fmla="val 3158"/>
            </a:avLst>
          </a:prstGeom>
          <a:solidFill>
            <a:srgbClr val="222B2E"/>
          </a:solidFill>
          <a:ln w="12700">
            <a:solidFill>
              <a:srgbClr val="222B2E"/>
            </a:solidFill>
            <a:prstDash val="solid"/>
          </a:ln>
        </p:spPr>
      </p:sp>
      <p:sp>
        <p:nvSpPr>
          <p:cNvPr id="5" name="Shape 3"/>
          <p:cNvSpPr/>
          <p:nvPr/>
        </p:nvSpPr>
        <p:spPr>
          <a:xfrm>
            <a:off x="566928" y="1481328"/>
            <a:ext cx="2386584" cy="1517904"/>
          </a:xfrm>
          <a:prstGeom prst="rect">
            <a:avLst/>
          </a:prstGeom>
          <a:solidFill>
            <a:srgbClr val="3E9E6B"/>
          </a:solidFill>
          <a:ln w="12700">
            <a:solidFill>
              <a:srgbClr val="3E9E6B"/>
            </a:solidFill>
            <a:prstDash val="solid"/>
          </a:ln>
        </p:spPr>
      </p:sp>
      <p:sp>
        <p:nvSpPr>
          <p:cNvPr id="6" name="Text 4"/>
          <p:cNvSpPr txBox="1"/>
          <p:nvPr/>
        </p:nvSpPr>
        <p:spPr>
          <a:xfrm>
            <a:off x="566928" y="1554480"/>
            <a:ext cx="238658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SAFE</a:t>
            </a:r>
            <a:endParaRPr lang="en-US" sz="1200" dirty="0"/>
          </a:p>
        </p:txBody>
      </p:sp>
      <p:sp>
        <p:nvSpPr>
          <p:cNvPr id="7" name="Text 5"/>
          <p:cNvSpPr txBox="1"/>
          <p:nvPr/>
        </p:nvSpPr>
        <p:spPr>
          <a:xfrm>
            <a:off x="457200" y="3200400"/>
            <a:ext cx="2606040" cy="320040"/>
          </a:xfrm>
          <a:prstGeom prst="rect">
            <a:avLst/>
          </a:prstGeom>
          <a:noFill/>
          <a:ln/>
        </p:spPr>
        <p:txBody>
          <a:bodyPr wrap="square" lIns="0" tIns="0" rIns="0" bIns="0" rtlCol="0" anchor="ctr"/>
          <a:lstStyle/>
          <a:p>
            <a:pPr algn="ctr" indent="0" marL="0">
              <a:buNone/>
            </a:pPr>
            <a:r>
              <a:rPr lang="en-US" sz="1200" b="1" dirty="0">
                <a:solidFill>
                  <a:srgbClr val="0F2A33"/>
                </a:solidFill>
                <a:latin typeface="Meiryo" pitchFamily="34" charset="0"/>
                <a:ea typeface="Meiryo" pitchFamily="34" charset="-122"/>
                <a:cs typeface="Meiryo" pitchFamily="34" charset="-120"/>
              </a:rPr>
              <a:t>人物なし</a:t>
            </a:r>
            <a:endParaRPr lang="en-US" sz="1200" dirty="0"/>
          </a:p>
        </p:txBody>
      </p:sp>
      <p:sp>
        <p:nvSpPr>
          <p:cNvPr id="8" name="Shape 6"/>
          <p:cNvSpPr/>
          <p:nvPr/>
        </p:nvSpPr>
        <p:spPr>
          <a:xfrm>
            <a:off x="3291840" y="1371600"/>
            <a:ext cx="2606040" cy="1737360"/>
          </a:xfrm>
          <a:prstGeom prst="roundRect">
            <a:avLst>
              <a:gd name="adj" fmla="val 3158"/>
            </a:avLst>
          </a:prstGeom>
          <a:solidFill>
            <a:srgbClr val="222B2E"/>
          </a:solidFill>
          <a:ln w="12700">
            <a:solidFill>
              <a:srgbClr val="222B2E"/>
            </a:solidFill>
            <a:prstDash val="solid"/>
          </a:ln>
        </p:spPr>
      </p:sp>
      <p:sp>
        <p:nvSpPr>
          <p:cNvPr id="9" name="Shape 7"/>
          <p:cNvSpPr/>
          <p:nvPr/>
        </p:nvSpPr>
        <p:spPr>
          <a:xfrm>
            <a:off x="3401568" y="1481328"/>
            <a:ext cx="2386584" cy="1517904"/>
          </a:xfrm>
          <a:prstGeom prst="rect">
            <a:avLst/>
          </a:prstGeom>
          <a:solidFill>
            <a:srgbClr val="E89B2F"/>
          </a:solidFill>
          <a:ln w="12700">
            <a:solidFill>
              <a:srgbClr val="E89B2F"/>
            </a:solidFill>
            <a:prstDash val="solid"/>
          </a:ln>
        </p:spPr>
      </p:sp>
      <p:sp>
        <p:nvSpPr>
          <p:cNvPr id="10" name="Text 8"/>
          <p:cNvSpPr txBox="1"/>
          <p:nvPr/>
        </p:nvSpPr>
        <p:spPr>
          <a:xfrm>
            <a:off x="3401568" y="1554480"/>
            <a:ext cx="238658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MONITORING</a:t>
            </a:r>
            <a:endParaRPr lang="en-US" sz="1200" dirty="0"/>
          </a:p>
        </p:txBody>
      </p:sp>
      <p:sp>
        <p:nvSpPr>
          <p:cNvPr id="11" name="Shape 9"/>
          <p:cNvSpPr/>
          <p:nvPr/>
        </p:nvSpPr>
        <p:spPr>
          <a:xfrm>
            <a:off x="4343400" y="1965960"/>
            <a:ext cx="502920" cy="914400"/>
          </a:xfrm>
          <a:prstGeom prst="rect">
            <a:avLst/>
          </a:prstGeom>
          <a:solidFill>
            <a:srgbClr val="E89B2F"/>
          </a:solidFill>
          <a:ln w="25400">
            <a:solidFill>
              <a:srgbClr val="FFFFFF"/>
            </a:solidFill>
            <a:prstDash val="solid"/>
          </a:ln>
        </p:spPr>
      </p:sp>
      <p:sp>
        <p:nvSpPr>
          <p:cNvPr id="12" name="Text 10"/>
          <p:cNvSpPr txBox="1"/>
          <p:nvPr/>
        </p:nvSpPr>
        <p:spPr>
          <a:xfrm>
            <a:off x="3291840" y="3200400"/>
            <a:ext cx="2606040" cy="320040"/>
          </a:xfrm>
          <a:prstGeom prst="rect">
            <a:avLst/>
          </a:prstGeom>
          <a:noFill/>
          <a:ln/>
        </p:spPr>
        <p:txBody>
          <a:bodyPr wrap="square" lIns="0" tIns="0" rIns="0" bIns="0" rtlCol="0" anchor="ctr"/>
          <a:lstStyle/>
          <a:p>
            <a:pPr algn="ctr" indent="0" marL="0">
              <a:buNone/>
            </a:pPr>
            <a:r>
              <a:rPr lang="en-US" sz="1200" b="1" dirty="0">
                <a:solidFill>
                  <a:srgbClr val="0F2A33"/>
                </a:solidFill>
                <a:latin typeface="Meiryo" pitchFamily="34" charset="0"/>
                <a:ea typeface="Meiryo" pitchFamily="34" charset="-122"/>
                <a:cs typeface="Meiryo" pitchFamily="34" charset="-120"/>
              </a:rPr>
              <a:t>見守り中</a:t>
            </a:r>
            <a:endParaRPr lang="en-US" sz="1200" dirty="0"/>
          </a:p>
        </p:txBody>
      </p:sp>
      <p:sp>
        <p:nvSpPr>
          <p:cNvPr id="13" name="Shape 11"/>
          <p:cNvSpPr/>
          <p:nvPr/>
        </p:nvSpPr>
        <p:spPr>
          <a:xfrm>
            <a:off x="6126480" y="1371600"/>
            <a:ext cx="2606040" cy="1737360"/>
          </a:xfrm>
          <a:prstGeom prst="roundRect">
            <a:avLst>
              <a:gd name="adj" fmla="val 3158"/>
            </a:avLst>
          </a:prstGeom>
          <a:solidFill>
            <a:srgbClr val="222B2E"/>
          </a:solidFill>
          <a:ln w="12700">
            <a:solidFill>
              <a:srgbClr val="222B2E"/>
            </a:solidFill>
            <a:prstDash val="solid"/>
          </a:ln>
        </p:spPr>
      </p:sp>
      <p:sp>
        <p:nvSpPr>
          <p:cNvPr id="14" name="Shape 12"/>
          <p:cNvSpPr/>
          <p:nvPr/>
        </p:nvSpPr>
        <p:spPr>
          <a:xfrm>
            <a:off x="6236208" y="1481328"/>
            <a:ext cx="2386584" cy="1517904"/>
          </a:xfrm>
          <a:prstGeom prst="rect">
            <a:avLst/>
          </a:prstGeom>
          <a:solidFill>
            <a:srgbClr val="D24B45"/>
          </a:solidFill>
          <a:ln w="12700">
            <a:solidFill>
              <a:srgbClr val="D24B45"/>
            </a:solidFill>
            <a:prstDash val="solid"/>
          </a:ln>
        </p:spPr>
      </p:sp>
      <p:sp>
        <p:nvSpPr>
          <p:cNvPr id="15" name="Text 13"/>
          <p:cNvSpPr txBox="1"/>
          <p:nvPr/>
        </p:nvSpPr>
        <p:spPr>
          <a:xfrm>
            <a:off x="6236208" y="1554480"/>
            <a:ext cx="238658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FALL DETECTED</a:t>
            </a:r>
            <a:endParaRPr lang="en-US" sz="1200" dirty="0"/>
          </a:p>
        </p:txBody>
      </p:sp>
      <p:sp>
        <p:nvSpPr>
          <p:cNvPr id="16" name="Shape 14"/>
          <p:cNvSpPr/>
          <p:nvPr/>
        </p:nvSpPr>
        <p:spPr>
          <a:xfrm>
            <a:off x="6903720" y="2423160"/>
            <a:ext cx="1051560" cy="411480"/>
          </a:xfrm>
          <a:prstGeom prst="rect">
            <a:avLst/>
          </a:prstGeom>
          <a:solidFill>
            <a:srgbClr val="D24B45"/>
          </a:solidFill>
          <a:ln w="25400">
            <a:solidFill>
              <a:srgbClr val="FFFFFF"/>
            </a:solidFill>
            <a:prstDash val="solid"/>
          </a:ln>
        </p:spPr>
      </p:sp>
      <p:sp>
        <p:nvSpPr>
          <p:cNvPr id="17" name="Text 15"/>
          <p:cNvSpPr txBox="1"/>
          <p:nvPr/>
        </p:nvSpPr>
        <p:spPr>
          <a:xfrm>
            <a:off x="6126480" y="3200400"/>
            <a:ext cx="2606040" cy="320040"/>
          </a:xfrm>
          <a:prstGeom prst="rect">
            <a:avLst/>
          </a:prstGeom>
          <a:noFill/>
          <a:ln/>
        </p:spPr>
        <p:txBody>
          <a:bodyPr wrap="square" lIns="0" tIns="0" rIns="0" bIns="0" rtlCol="0" anchor="ctr"/>
          <a:lstStyle/>
          <a:p>
            <a:pPr algn="ctr" indent="0" marL="0">
              <a:buNone/>
            </a:pPr>
            <a:r>
              <a:rPr lang="en-US" sz="1200" b="1" dirty="0">
                <a:solidFill>
                  <a:srgbClr val="0F2A33"/>
                </a:solidFill>
                <a:latin typeface="Meiryo" pitchFamily="34" charset="0"/>
                <a:ea typeface="Meiryo" pitchFamily="34" charset="-122"/>
                <a:cs typeface="Meiryo" pitchFamily="34" charset="-120"/>
              </a:rPr>
              <a:t>転倒を検知</a:t>
            </a:r>
            <a:endParaRPr lang="en-US" sz="1200" dirty="0"/>
          </a:p>
        </p:txBody>
      </p:sp>
      <p:sp>
        <p:nvSpPr>
          <p:cNvPr id="18" name="Shape 16"/>
          <p:cNvSpPr/>
          <p:nvPr/>
        </p:nvSpPr>
        <p:spPr>
          <a:xfrm>
            <a:off x="457200" y="3840480"/>
            <a:ext cx="548640" cy="548640"/>
          </a:xfrm>
          <a:prstGeom prst="ellipse">
            <a:avLst/>
          </a:prstGeom>
          <a:solidFill>
            <a:srgbClr val="1F6F78"/>
          </a:solidFill>
          <a:ln w="12700">
            <a:solidFill>
              <a:srgbClr val="1F6F78"/>
            </a:solidFill>
            <a:prstDash val="solid"/>
          </a:ln>
        </p:spPr>
      </p:sp>
      <p:pic>
        <p:nvPicPr>
          <p:cNvPr id="19" name="Image 0" descr="preencoded.png">    </p:cNvPr>
          <p:cNvPicPr>
            <a:picLocks noChangeAspect="1"/>
          </p:cNvPicPr>
          <p:nvPr/>
        </p:nvPicPr>
        <p:blipFill>
          <a:blip r:embed="rId1"/>
          <a:stretch>
            <a:fillRect/>
          </a:stretch>
        </p:blipFill>
        <p:spPr>
          <a:xfrm>
            <a:off x="577901" y="3961181"/>
            <a:ext cx="307238" cy="307238"/>
          </a:xfrm>
          <a:prstGeom prst="rect">
            <a:avLst/>
          </a:prstGeom>
        </p:spPr>
      </p:pic>
      <p:sp>
        <p:nvSpPr>
          <p:cNvPr id="20" name="Text 17"/>
          <p:cNvSpPr txBox="1"/>
          <p:nvPr/>
        </p:nvSpPr>
        <p:spPr>
          <a:xfrm>
            <a:off x="1188720" y="3840480"/>
            <a:ext cx="7498080" cy="548640"/>
          </a:xfrm>
          <a:prstGeom prst="rect">
            <a:avLst/>
          </a:prstGeom>
          <a:noFill/>
          <a:ln/>
        </p:spPr>
        <p:txBody>
          <a:bodyPr wrap="square" lIns="0" tIns="0" rIns="0" bIns="0" rtlCol="0" anchor="ctr"/>
          <a:lstStyle/>
          <a:p>
            <a:pPr indent="0" marL="0">
              <a:buNone/>
            </a:pPr>
            <a:r>
              <a:rPr lang="en-US" sz="1150" dirty="0">
                <a:solidFill>
                  <a:srgbClr val="1B2B30"/>
                </a:solidFill>
                <a:latin typeface="Meiryo" pitchFamily="34" charset="0"/>
                <a:ea typeface="Meiryo" pitchFamily="34" charset="-122"/>
                <a:cs typeface="Meiryo" pitchFamily="34" charset="-120"/>
              </a:rPr>
              <a:t>人の位置は「枠」だけで示し、顔や部屋の様子は表示しない。LED とシリアル出力でも同じ状態を通知する。</a:t>
            </a:r>
            <a:endParaRPr lang="en-US" sz="1150" dirty="0"/>
          </a:p>
        </p:txBody>
      </p:sp>
      <p:sp>
        <p:nvSpPr>
          <p:cNvPr id="21" name="Text 18"/>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B6B70"/>
                </a:solidFill>
                <a:latin typeface="Meiryo" pitchFamily="34" charset="0"/>
                <a:ea typeface="Meiryo" pitchFamily="34" charset="-122"/>
                <a:cs typeface="Meiryo"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F2A33"/>
                </a:solidFill>
                <a:latin typeface="Meiryo" pitchFamily="34" charset="0"/>
                <a:ea typeface="Meiryo" pitchFamily="34" charset="-122"/>
                <a:cs typeface="Meiryo" pitchFamily="34" charset="-120"/>
              </a:rPr>
              <a:t>移植で解決した技術課題</a:t>
            </a:r>
            <a:endParaRPr lang="en-US" sz="24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dirty="0">
                <a:solidFill>
                  <a:srgbClr val="5B6B70"/>
                </a:solidFill>
                <a:latin typeface="Meiryo" pitchFamily="34" charset="0"/>
                <a:ea typeface="Meiryo" pitchFamily="34" charset="-122"/>
                <a:cs typeface="Meiryo" pitchFamily="34" charset="-120"/>
              </a:rPr>
              <a:t>詳細は docs/porting_notes.md に公開（同じ構成で開発する人の参考に）</a:t>
            </a:r>
            <a:endParaRPr lang="en-US" sz="1200" dirty="0"/>
          </a:p>
        </p:txBody>
      </p:sp>
      <p:sp>
        <p:nvSpPr>
          <p:cNvPr id="4" name="Shape 2"/>
          <p:cNvSpPr/>
          <p:nvPr/>
        </p:nvSpPr>
        <p:spPr>
          <a:xfrm>
            <a:off x="457200" y="1325880"/>
            <a:ext cx="4023360" cy="1554480"/>
          </a:xfrm>
          <a:prstGeom prst="roundRect">
            <a:avLst>
              <a:gd name="adj" fmla="val 4706"/>
            </a:avLst>
          </a:prstGeom>
          <a:solidFill>
            <a:srgbClr val="FFFFFF"/>
          </a:solidFill>
          <a:ln w="9525">
            <a:solidFill>
              <a:srgbClr val="C9D6D8"/>
            </a:solidFill>
            <a:prstDash val="solid"/>
          </a:ln>
        </p:spPr>
      </p:sp>
      <p:sp>
        <p:nvSpPr>
          <p:cNvPr id="5" name="Shape 3"/>
          <p:cNvSpPr/>
          <p:nvPr/>
        </p:nvSpPr>
        <p:spPr>
          <a:xfrm>
            <a:off x="640080" y="1508760"/>
            <a:ext cx="502920" cy="502920"/>
          </a:xfrm>
          <a:prstGeom prst="ellipse">
            <a:avLst/>
          </a:prstGeom>
          <a:solidFill>
            <a:srgbClr val="1F6F78"/>
          </a:solidFill>
          <a:ln w="12700">
            <a:solidFill>
              <a:srgbClr val="1F6F78"/>
            </a:solidFill>
            <a:prstDash val="solid"/>
          </a:ln>
        </p:spPr>
      </p:sp>
      <p:pic>
        <p:nvPicPr>
          <p:cNvPr id="6" name="Image 0" descr="preencoded.png">    </p:cNvPr>
          <p:cNvPicPr>
            <a:picLocks noChangeAspect="1"/>
          </p:cNvPicPr>
          <p:nvPr/>
        </p:nvPicPr>
        <p:blipFill>
          <a:blip r:embed="rId1"/>
          <a:stretch>
            <a:fillRect/>
          </a:stretch>
        </p:blipFill>
        <p:spPr>
          <a:xfrm>
            <a:off x="750722" y="1619402"/>
            <a:ext cx="281635" cy="281635"/>
          </a:xfrm>
          <a:prstGeom prst="rect">
            <a:avLst/>
          </a:prstGeom>
        </p:spPr>
      </p:pic>
      <p:sp>
        <p:nvSpPr>
          <p:cNvPr id="7" name="Text 4"/>
          <p:cNvSpPr txBox="1"/>
          <p:nvPr/>
        </p:nvSpPr>
        <p:spPr>
          <a:xfrm>
            <a:off x="1280160" y="1527048"/>
            <a:ext cx="3063240" cy="457200"/>
          </a:xfrm>
          <a:prstGeom prst="rect">
            <a:avLst/>
          </a:prstGeom>
          <a:noFill/>
          <a:ln/>
        </p:spPr>
        <p:txBody>
          <a:bodyPr wrap="square" lIns="0" tIns="0" rIns="0" bIns="0" rtlCol="0" anchor="ctr"/>
          <a:lstStyle/>
          <a:p>
            <a:pPr indent="0" marL="0">
              <a:buNone/>
            </a:pPr>
            <a:r>
              <a:rPr lang="en-US" sz="1300" b="1" dirty="0">
                <a:solidFill>
                  <a:srgbClr val="0F2A33"/>
                </a:solidFill>
                <a:latin typeface="Meiryo" pitchFamily="34" charset="0"/>
                <a:ea typeface="Meiryo" pitchFamily="34" charset="-122"/>
                <a:cs typeface="Meiryo" pitchFamily="34" charset="-120"/>
              </a:rPr>
              <a:t>ピン・クロック設定の差分</a:t>
            </a:r>
            <a:endParaRPr lang="en-US" sz="1300" dirty="0"/>
          </a:p>
        </p:txBody>
      </p:sp>
      <p:sp>
        <p:nvSpPr>
          <p:cNvPr id="8" name="Text 5"/>
          <p:cNvSpPr txBox="1"/>
          <p:nvPr/>
        </p:nvSpPr>
        <p:spPr>
          <a:xfrm>
            <a:off x="640080" y="2075688"/>
            <a:ext cx="3657600" cy="749808"/>
          </a:xfrm>
          <a:prstGeom prst="rect">
            <a:avLst/>
          </a:prstGeom>
          <a:noFill/>
          <a:ln/>
        </p:spPr>
        <p:txBody>
          <a:bodyPr wrap="square" lIns="0" tIns="0" rIns="0" bIns="0" rtlCol="0" anchor="t"/>
          <a:lstStyle/>
          <a:p>
            <a:pPr indent="0" marL="0">
              <a:buNone/>
            </a:pPr>
            <a:r>
              <a:rPr lang="en-US" sz="950" dirty="0">
                <a:solidFill>
                  <a:srgbClr val="1B2B30"/>
                </a:solidFill>
                <a:latin typeface="Meiryo" pitchFamily="34" charset="0"/>
                <a:ea typeface="Meiryo" pitchFamily="34" charset="-122"/>
                <a:cs typeface="Meiryo" pitchFamily="34" charset="-120"/>
              </a:rPr>
              <a:t>MIPI_IF_EN（P108）未設定でカメラ画像が1枚も届かない問題を、元サンプルとのレジスタ比較で特定。カメラリセット（P709）、LCDリセット（P606）、GPT ch12 で 24MHz 生成も修正。</a:t>
            </a:r>
            <a:endParaRPr lang="en-US" sz="950" dirty="0"/>
          </a:p>
        </p:txBody>
      </p:sp>
      <p:sp>
        <p:nvSpPr>
          <p:cNvPr id="9" name="Shape 6"/>
          <p:cNvSpPr/>
          <p:nvPr/>
        </p:nvSpPr>
        <p:spPr>
          <a:xfrm>
            <a:off x="4663440" y="1325880"/>
            <a:ext cx="4023360" cy="1554480"/>
          </a:xfrm>
          <a:prstGeom prst="roundRect">
            <a:avLst>
              <a:gd name="adj" fmla="val 4706"/>
            </a:avLst>
          </a:prstGeom>
          <a:solidFill>
            <a:srgbClr val="FFFFFF"/>
          </a:solidFill>
          <a:ln w="9525">
            <a:solidFill>
              <a:srgbClr val="C9D6D8"/>
            </a:solidFill>
            <a:prstDash val="solid"/>
          </a:ln>
        </p:spPr>
      </p:sp>
      <p:sp>
        <p:nvSpPr>
          <p:cNvPr id="10" name="Shape 7"/>
          <p:cNvSpPr/>
          <p:nvPr/>
        </p:nvSpPr>
        <p:spPr>
          <a:xfrm>
            <a:off x="4846320" y="1508760"/>
            <a:ext cx="502920" cy="502920"/>
          </a:xfrm>
          <a:prstGeom prst="ellipse">
            <a:avLst/>
          </a:prstGeom>
          <a:solidFill>
            <a:srgbClr val="1F6F78"/>
          </a:solidFill>
          <a:ln w="12700">
            <a:solidFill>
              <a:srgbClr val="1F6F78"/>
            </a:solidFill>
            <a:prstDash val="solid"/>
          </a:ln>
        </p:spPr>
      </p:sp>
      <p:pic>
        <p:nvPicPr>
          <p:cNvPr id="11" name="Image 1" descr="preencoded.png">    </p:cNvPr>
          <p:cNvPicPr>
            <a:picLocks noChangeAspect="1"/>
          </p:cNvPicPr>
          <p:nvPr/>
        </p:nvPicPr>
        <p:blipFill>
          <a:blip r:embed="rId2"/>
          <a:stretch>
            <a:fillRect/>
          </a:stretch>
        </p:blipFill>
        <p:spPr>
          <a:xfrm>
            <a:off x="4956962" y="1619402"/>
            <a:ext cx="281635" cy="281635"/>
          </a:xfrm>
          <a:prstGeom prst="rect">
            <a:avLst/>
          </a:prstGeom>
        </p:spPr>
      </p:pic>
      <p:sp>
        <p:nvSpPr>
          <p:cNvPr id="12" name="Text 8"/>
          <p:cNvSpPr txBox="1"/>
          <p:nvPr/>
        </p:nvSpPr>
        <p:spPr>
          <a:xfrm>
            <a:off x="5486400" y="1527048"/>
            <a:ext cx="3063240" cy="457200"/>
          </a:xfrm>
          <a:prstGeom prst="rect">
            <a:avLst/>
          </a:prstGeom>
          <a:noFill/>
          <a:ln/>
        </p:spPr>
        <p:txBody>
          <a:bodyPr wrap="square" lIns="0" tIns="0" rIns="0" bIns="0" rtlCol="0" anchor="ctr"/>
          <a:lstStyle/>
          <a:p>
            <a:pPr indent="0" marL="0">
              <a:buNone/>
            </a:pPr>
            <a:r>
              <a:rPr lang="en-US" sz="1300" b="1" dirty="0">
                <a:solidFill>
                  <a:srgbClr val="0F2A33"/>
                </a:solidFill>
                <a:latin typeface="Meiryo" pitchFamily="34" charset="0"/>
                <a:ea typeface="Meiryo" pitchFamily="34" charset="-122"/>
                <a:cs typeface="Meiryo" pitchFamily="34" charset="-120"/>
              </a:rPr>
              <a:t>FSP 割り込みとカーネルの共存</a:t>
            </a:r>
            <a:endParaRPr lang="en-US" sz="1300" dirty="0"/>
          </a:p>
        </p:txBody>
      </p:sp>
      <p:sp>
        <p:nvSpPr>
          <p:cNvPr id="13" name="Text 9"/>
          <p:cNvSpPr txBox="1"/>
          <p:nvPr/>
        </p:nvSpPr>
        <p:spPr>
          <a:xfrm>
            <a:off x="4846320" y="2075688"/>
            <a:ext cx="3657600" cy="749808"/>
          </a:xfrm>
          <a:prstGeom prst="rect">
            <a:avLst/>
          </a:prstGeom>
          <a:noFill/>
          <a:ln/>
        </p:spPr>
        <p:txBody>
          <a:bodyPr wrap="square" lIns="0" tIns="0" rIns="0" bIns="0" rtlCol="0" anchor="t"/>
          <a:lstStyle/>
          <a:p>
            <a:pPr indent="0" marL="0">
              <a:buNone/>
            </a:pPr>
            <a:r>
              <a:rPr lang="en-US" sz="950" dirty="0">
                <a:solidFill>
                  <a:srgbClr val="1B2B30"/>
                </a:solidFill>
                <a:latin typeface="Meiryo" pitchFamily="34" charset="0"/>
                <a:ea typeface="Meiryo" pitchFamily="34" charset="-122"/>
                <a:cs typeface="Meiryo" pitchFamily="34" charset="-120"/>
              </a:rPr>
              <a:t>FSP コールバックからイベントフラグを操作するため、タスク独立部として扱う作法を採用。優先度 0 はカーネル管理外なので使わない。</a:t>
            </a:r>
            <a:endParaRPr lang="en-US" sz="950" dirty="0"/>
          </a:p>
        </p:txBody>
      </p:sp>
      <p:sp>
        <p:nvSpPr>
          <p:cNvPr id="14" name="Shape 10"/>
          <p:cNvSpPr/>
          <p:nvPr/>
        </p:nvSpPr>
        <p:spPr>
          <a:xfrm>
            <a:off x="457200" y="3017520"/>
            <a:ext cx="4023360" cy="1554480"/>
          </a:xfrm>
          <a:prstGeom prst="roundRect">
            <a:avLst>
              <a:gd name="adj" fmla="val 4706"/>
            </a:avLst>
          </a:prstGeom>
          <a:solidFill>
            <a:srgbClr val="FFFFFF"/>
          </a:solidFill>
          <a:ln w="9525">
            <a:solidFill>
              <a:srgbClr val="C9D6D8"/>
            </a:solidFill>
            <a:prstDash val="solid"/>
          </a:ln>
        </p:spPr>
      </p:sp>
      <p:sp>
        <p:nvSpPr>
          <p:cNvPr id="15" name="Shape 11"/>
          <p:cNvSpPr/>
          <p:nvPr/>
        </p:nvSpPr>
        <p:spPr>
          <a:xfrm>
            <a:off x="640080" y="3200400"/>
            <a:ext cx="502920" cy="502920"/>
          </a:xfrm>
          <a:prstGeom prst="ellipse">
            <a:avLst/>
          </a:prstGeom>
          <a:solidFill>
            <a:srgbClr val="1F6F78"/>
          </a:solidFill>
          <a:ln w="12700">
            <a:solidFill>
              <a:srgbClr val="1F6F78"/>
            </a:solidFill>
            <a:prstDash val="solid"/>
          </a:ln>
        </p:spPr>
      </p:sp>
      <p:pic>
        <p:nvPicPr>
          <p:cNvPr id="16" name="Image 2" descr="preencoded.png">    </p:cNvPr>
          <p:cNvPicPr>
            <a:picLocks noChangeAspect="1"/>
          </p:cNvPicPr>
          <p:nvPr/>
        </p:nvPicPr>
        <p:blipFill>
          <a:blip r:embed="rId3"/>
          <a:stretch>
            <a:fillRect/>
          </a:stretch>
        </p:blipFill>
        <p:spPr>
          <a:xfrm>
            <a:off x="750722" y="3311042"/>
            <a:ext cx="281635" cy="281635"/>
          </a:xfrm>
          <a:prstGeom prst="rect">
            <a:avLst/>
          </a:prstGeom>
        </p:spPr>
      </p:pic>
      <p:sp>
        <p:nvSpPr>
          <p:cNvPr id="17" name="Text 12"/>
          <p:cNvSpPr txBox="1"/>
          <p:nvPr/>
        </p:nvSpPr>
        <p:spPr>
          <a:xfrm>
            <a:off x="1280160" y="3218688"/>
            <a:ext cx="3063240" cy="457200"/>
          </a:xfrm>
          <a:prstGeom prst="rect">
            <a:avLst/>
          </a:prstGeom>
          <a:noFill/>
          <a:ln/>
        </p:spPr>
        <p:txBody>
          <a:bodyPr wrap="square" lIns="0" tIns="0" rIns="0" bIns="0" rtlCol="0" anchor="ctr"/>
          <a:lstStyle/>
          <a:p>
            <a:pPr indent="0" marL="0">
              <a:buNone/>
            </a:pPr>
            <a:r>
              <a:rPr lang="en-US" sz="1300" b="1" dirty="0">
                <a:solidFill>
                  <a:srgbClr val="0F2A33"/>
                </a:solidFill>
                <a:latin typeface="Meiryo" pitchFamily="34" charset="0"/>
                <a:ea typeface="Meiryo" pitchFamily="34" charset="-122"/>
                <a:cs typeface="Meiryo" pitchFamily="34" charset="-120"/>
              </a:rPr>
              <a:t>C++ 推論コードの統合</a:t>
            </a:r>
            <a:endParaRPr lang="en-US" sz="1300" dirty="0"/>
          </a:p>
        </p:txBody>
      </p:sp>
      <p:sp>
        <p:nvSpPr>
          <p:cNvPr id="18" name="Text 13"/>
          <p:cNvSpPr txBox="1"/>
          <p:nvPr/>
        </p:nvSpPr>
        <p:spPr>
          <a:xfrm>
            <a:off x="640080" y="3767328"/>
            <a:ext cx="3657600" cy="749808"/>
          </a:xfrm>
          <a:prstGeom prst="rect">
            <a:avLst/>
          </a:prstGeom>
          <a:noFill/>
          <a:ln/>
        </p:spPr>
        <p:txBody>
          <a:bodyPr wrap="square" lIns="0" tIns="0" rIns="0" bIns="0" rtlCol="0" anchor="t"/>
          <a:lstStyle/>
          <a:p>
            <a:pPr indent="0" marL="0">
              <a:buNone/>
            </a:pPr>
            <a:r>
              <a:rPr lang="en-US" sz="950" dirty="0">
                <a:solidFill>
                  <a:srgbClr val="1B2B30"/>
                </a:solidFill>
                <a:latin typeface="Meiryo" pitchFamily="34" charset="0"/>
                <a:ea typeface="Meiryo" pitchFamily="34" charset="-122"/>
                <a:cs typeface="Meiryo" pitchFamily="34" charset="-120"/>
              </a:rPr>
              <a:t>C プロジェクトに C++ を追加。Windows のパス長制限で標準ヘッダが開けない問題をジャンクションで回避し、リンカ設定を C 側と揃えた。</a:t>
            </a:r>
            <a:endParaRPr lang="en-US" sz="950" dirty="0"/>
          </a:p>
        </p:txBody>
      </p:sp>
      <p:sp>
        <p:nvSpPr>
          <p:cNvPr id="19" name="Shape 14"/>
          <p:cNvSpPr/>
          <p:nvPr/>
        </p:nvSpPr>
        <p:spPr>
          <a:xfrm>
            <a:off x="4663440" y="3017520"/>
            <a:ext cx="4023360" cy="1554480"/>
          </a:xfrm>
          <a:prstGeom prst="roundRect">
            <a:avLst>
              <a:gd name="adj" fmla="val 4706"/>
            </a:avLst>
          </a:prstGeom>
          <a:solidFill>
            <a:srgbClr val="FFFFFF"/>
          </a:solidFill>
          <a:ln w="9525">
            <a:solidFill>
              <a:srgbClr val="C9D6D8"/>
            </a:solidFill>
            <a:prstDash val="solid"/>
          </a:ln>
        </p:spPr>
      </p:sp>
      <p:sp>
        <p:nvSpPr>
          <p:cNvPr id="20" name="Shape 15"/>
          <p:cNvSpPr/>
          <p:nvPr/>
        </p:nvSpPr>
        <p:spPr>
          <a:xfrm>
            <a:off x="4846320" y="3200400"/>
            <a:ext cx="502920" cy="502920"/>
          </a:xfrm>
          <a:prstGeom prst="ellipse">
            <a:avLst/>
          </a:prstGeom>
          <a:solidFill>
            <a:srgbClr val="1F6F78"/>
          </a:solidFill>
          <a:ln w="12700">
            <a:solidFill>
              <a:srgbClr val="1F6F78"/>
            </a:solidFill>
            <a:prstDash val="solid"/>
          </a:ln>
        </p:spPr>
      </p:sp>
      <p:pic>
        <p:nvPicPr>
          <p:cNvPr id="21" name="Image 3" descr="preencoded.png">    </p:cNvPr>
          <p:cNvPicPr>
            <a:picLocks noChangeAspect="1"/>
          </p:cNvPicPr>
          <p:nvPr/>
        </p:nvPicPr>
        <p:blipFill>
          <a:blip r:embed="rId4"/>
          <a:stretch>
            <a:fillRect/>
          </a:stretch>
        </p:blipFill>
        <p:spPr>
          <a:xfrm>
            <a:off x="4956962" y="3311042"/>
            <a:ext cx="281635" cy="281635"/>
          </a:xfrm>
          <a:prstGeom prst="rect">
            <a:avLst/>
          </a:prstGeom>
        </p:spPr>
      </p:pic>
      <p:sp>
        <p:nvSpPr>
          <p:cNvPr id="22" name="Text 16"/>
          <p:cNvSpPr txBox="1"/>
          <p:nvPr/>
        </p:nvSpPr>
        <p:spPr>
          <a:xfrm>
            <a:off x="5486400" y="3218688"/>
            <a:ext cx="3063240" cy="457200"/>
          </a:xfrm>
          <a:prstGeom prst="rect">
            <a:avLst/>
          </a:prstGeom>
          <a:noFill/>
          <a:ln/>
        </p:spPr>
        <p:txBody>
          <a:bodyPr wrap="square" lIns="0" tIns="0" rIns="0" bIns="0" rtlCol="0" anchor="ctr"/>
          <a:lstStyle/>
          <a:p>
            <a:pPr indent="0" marL="0">
              <a:buNone/>
            </a:pPr>
            <a:r>
              <a:rPr lang="en-US" sz="1300" b="1" dirty="0">
                <a:solidFill>
                  <a:srgbClr val="0F2A33"/>
                </a:solidFill>
                <a:latin typeface="Meiryo" pitchFamily="34" charset="0"/>
                <a:ea typeface="Meiryo" pitchFamily="34" charset="-122"/>
                <a:cs typeface="Meiryo" pitchFamily="34" charset="-120"/>
              </a:rPr>
              <a:t>AI モデルの ROM 化</a:t>
            </a:r>
            <a:endParaRPr lang="en-US" sz="1300" dirty="0"/>
          </a:p>
        </p:txBody>
      </p:sp>
      <p:sp>
        <p:nvSpPr>
          <p:cNvPr id="23" name="Text 17"/>
          <p:cNvSpPr txBox="1"/>
          <p:nvPr/>
        </p:nvSpPr>
        <p:spPr>
          <a:xfrm>
            <a:off x="4846320" y="3767328"/>
            <a:ext cx="3657600" cy="749808"/>
          </a:xfrm>
          <a:prstGeom prst="rect">
            <a:avLst/>
          </a:prstGeom>
          <a:noFill/>
          <a:ln/>
        </p:spPr>
        <p:txBody>
          <a:bodyPr wrap="square" lIns="0" tIns="0" rIns="0" bIns="0" rtlCol="0" anchor="t"/>
          <a:lstStyle/>
          <a:p>
            <a:pPr indent="0" marL="0">
              <a:buNone/>
            </a:pPr>
            <a:r>
              <a:rPr lang="en-US" sz="950" dirty="0">
                <a:solidFill>
                  <a:srgbClr val="1B2B30"/>
                </a:solidFill>
                <a:latin typeface="Meiryo" pitchFamily="34" charset="0"/>
                <a:ea typeface="Meiryo" pitchFamily="34" charset="-122"/>
                <a:cs typeface="Meiryo" pitchFamily="34" charset="-120"/>
              </a:rPr>
              <a:t>外部 OSPI フラッシュへの依存を外し、モデルを内蔵フラッシュの C 配列として直接リンク。FSP 6.6.0 の Ethos-U ドライバ仕様変更にも対応。</a:t>
            </a:r>
            <a:endParaRPr lang="en-US" sz="950" dirty="0"/>
          </a:p>
        </p:txBody>
      </p:sp>
      <p:sp>
        <p:nvSpPr>
          <p:cNvPr id="24" name="Text 18"/>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B6B70"/>
                </a:solidFill>
                <a:latin typeface="Meiryo" pitchFamily="34" charset="0"/>
                <a:ea typeface="Meiryo" pitchFamily="34" charset="-122"/>
                <a:cs typeface="Meiryo"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F2A33"/>
                </a:solidFill>
                <a:latin typeface="Meiryo" pitchFamily="34" charset="0"/>
                <a:ea typeface="Meiryo" pitchFamily="34" charset="-122"/>
                <a:cs typeface="Meiryo" pitchFamily="34" charset="-120"/>
              </a:rPr>
              <a:t>現在の状況と今後</a:t>
            </a:r>
            <a:endParaRPr lang="en-US" sz="24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dirty="0">
                <a:solidFill>
                  <a:srgbClr val="5B6B70"/>
                </a:solidFill>
                <a:latin typeface="Meiryo" pitchFamily="34" charset="0"/>
                <a:ea typeface="Meiryo" pitchFamily="34" charset="-122"/>
                <a:cs typeface="Meiryo" pitchFamily="34" charset="-120"/>
              </a:rPr>
              <a:t>開発途中で貸与ボードの LCD が故障。事務局のご了承のもと、代替機到着後に更新版を提出</a:t>
            </a:r>
            <a:endParaRPr lang="en-US" sz="1200" dirty="0"/>
          </a:p>
        </p:txBody>
      </p:sp>
      <p:sp>
        <p:nvSpPr>
          <p:cNvPr id="4" name="Shape 2"/>
          <p:cNvSpPr/>
          <p:nvPr/>
        </p:nvSpPr>
        <p:spPr>
          <a:xfrm>
            <a:off x="457200" y="1371600"/>
            <a:ext cx="411480" cy="411480"/>
          </a:xfrm>
          <a:prstGeom prst="ellipse">
            <a:avLst/>
          </a:prstGeom>
          <a:solidFill>
            <a:srgbClr val="3E9E6B"/>
          </a:solidFill>
          <a:ln w="12700">
            <a:solidFill>
              <a:srgbClr val="3E9E6B"/>
            </a:solidFill>
            <a:prstDash val="solid"/>
          </a:ln>
        </p:spPr>
      </p:sp>
      <p:pic>
        <p:nvPicPr>
          <p:cNvPr id="5" name="Image 0" descr="preencoded.png">    </p:cNvPr>
          <p:cNvPicPr>
            <a:picLocks noChangeAspect="1"/>
          </p:cNvPicPr>
          <p:nvPr/>
        </p:nvPicPr>
        <p:blipFill>
          <a:blip r:embed="rId1"/>
          <a:stretch>
            <a:fillRect/>
          </a:stretch>
        </p:blipFill>
        <p:spPr>
          <a:xfrm>
            <a:off x="547726" y="1462126"/>
            <a:ext cx="230429" cy="230429"/>
          </a:xfrm>
          <a:prstGeom prst="rect">
            <a:avLst/>
          </a:prstGeom>
        </p:spPr>
      </p:pic>
      <p:sp>
        <p:nvSpPr>
          <p:cNvPr id="6" name="Text 3"/>
          <p:cNvSpPr txBox="1"/>
          <p:nvPr/>
        </p:nvSpPr>
        <p:spPr>
          <a:xfrm>
            <a:off x="1005840" y="1371600"/>
            <a:ext cx="4023360" cy="502920"/>
          </a:xfrm>
          <a:prstGeom prst="rect">
            <a:avLst/>
          </a:prstGeom>
          <a:noFill/>
          <a:ln/>
        </p:spPr>
        <p:txBody>
          <a:bodyPr wrap="square" lIns="0" tIns="0" rIns="0" bIns="0" rtlCol="0" anchor="ctr"/>
          <a:lstStyle/>
          <a:p>
            <a:pPr indent="0" marL="0">
              <a:buNone/>
            </a:pPr>
            <a:r>
              <a:rPr lang="en-US" sz="1050" dirty="0">
                <a:solidFill>
                  <a:srgbClr val="1B2B30"/>
                </a:solidFill>
                <a:latin typeface="Meiryo" pitchFamily="34" charset="0"/>
                <a:ea typeface="Meiryo" pitchFamily="34" charset="-122"/>
                <a:cs typeface="Meiryo" pitchFamily="34" charset="-120"/>
              </a:rPr>
              <a:t>μT-Kernel 3.0 起動・複数タスク・LED・シリアル出力（実機確認）</a:t>
            </a:r>
            <a:endParaRPr lang="en-US" sz="1050" dirty="0"/>
          </a:p>
        </p:txBody>
      </p:sp>
      <p:sp>
        <p:nvSpPr>
          <p:cNvPr id="7" name="Shape 4"/>
          <p:cNvSpPr/>
          <p:nvPr/>
        </p:nvSpPr>
        <p:spPr>
          <a:xfrm>
            <a:off x="457200" y="1975104"/>
            <a:ext cx="411480" cy="411480"/>
          </a:xfrm>
          <a:prstGeom prst="ellipse">
            <a:avLst/>
          </a:prstGeom>
          <a:solidFill>
            <a:srgbClr val="3E9E6B"/>
          </a:solidFill>
          <a:ln w="12700">
            <a:solidFill>
              <a:srgbClr val="3E9E6B"/>
            </a:solidFill>
            <a:prstDash val="solid"/>
          </a:ln>
        </p:spPr>
      </p:sp>
      <p:pic>
        <p:nvPicPr>
          <p:cNvPr id="8" name="Image 1" descr="preencoded.png">    </p:cNvPr>
          <p:cNvPicPr>
            <a:picLocks noChangeAspect="1"/>
          </p:cNvPicPr>
          <p:nvPr/>
        </p:nvPicPr>
        <p:blipFill>
          <a:blip r:embed="rId2"/>
          <a:stretch>
            <a:fillRect/>
          </a:stretch>
        </p:blipFill>
        <p:spPr>
          <a:xfrm>
            <a:off x="547726" y="2065630"/>
            <a:ext cx="230429" cy="230429"/>
          </a:xfrm>
          <a:prstGeom prst="rect">
            <a:avLst/>
          </a:prstGeom>
        </p:spPr>
      </p:pic>
      <p:sp>
        <p:nvSpPr>
          <p:cNvPr id="9" name="Text 5"/>
          <p:cNvSpPr txBox="1"/>
          <p:nvPr/>
        </p:nvSpPr>
        <p:spPr>
          <a:xfrm>
            <a:off x="1005840" y="1975104"/>
            <a:ext cx="4023360" cy="502920"/>
          </a:xfrm>
          <a:prstGeom prst="rect">
            <a:avLst/>
          </a:prstGeom>
          <a:noFill/>
          <a:ln/>
        </p:spPr>
        <p:txBody>
          <a:bodyPr wrap="square" lIns="0" tIns="0" rIns="0" bIns="0" rtlCol="0" anchor="ctr"/>
          <a:lstStyle/>
          <a:p>
            <a:pPr indent="0" marL="0">
              <a:buNone/>
            </a:pPr>
            <a:r>
              <a:rPr lang="en-US" sz="1050" dirty="0">
                <a:solidFill>
                  <a:srgbClr val="1B2B30"/>
                </a:solidFill>
                <a:latin typeface="Meiryo" pitchFamily="34" charset="0"/>
                <a:ea typeface="Meiryo" pitchFamily="34" charset="-122"/>
                <a:cs typeface="Meiryo" pitchFamily="34" charset="-120"/>
              </a:rPr>
              <a:t>公式 AI サンプルの実機動作（カメラ約30fps／推論約20回/秒）</a:t>
            </a:r>
            <a:endParaRPr lang="en-US" sz="1050" dirty="0"/>
          </a:p>
        </p:txBody>
      </p:sp>
      <p:sp>
        <p:nvSpPr>
          <p:cNvPr id="10" name="Shape 6"/>
          <p:cNvSpPr/>
          <p:nvPr/>
        </p:nvSpPr>
        <p:spPr>
          <a:xfrm>
            <a:off x="457200" y="2578608"/>
            <a:ext cx="411480" cy="411480"/>
          </a:xfrm>
          <a:prstGeom prst="ellipse">
            <a:avLst/>
          </a:prstGeom>
          <a:solidFill>
            <a:srgbClr val="3E9E6B"/>
          </a:solidFill>
          <a:ln w="12700">
            <a:solidFill>
              <a:srgbClr val="3E9E6B"/>
            </a:solidFill>
            <a:prstDash val="solid"/>
          </a:ln>
        </p:spPr>
      </p:sp>
      <p:pic>
        <p:nvPicPr>
          <p:cNvPr id="11" name="Image 2" descr="preencoded.png">    </p:cNvPr>
          <p:cNvPicPr>
            <a:picLocks noChangeAspect="1"/>
          </p:cNvPicPr>
          <p:nvPr/>
        </p:nvPicPr>
        <p:blipFill>
          <a:blip r:embed="rId3"/>
          <a:stretch>
            <a:fillRect/>
          </a:stretch>
        </p:blipFill>
        <p:spPr>
          <a:xfrm>
            <a:off x="547726" y="2669134"/>
            <a:ext cx="230429" cy="230429"/>
          </a:xfrm>
          <a:prstGeom prst="rect">
            <a:avLst/>
          </a:prstGeom>
        </p:spPr>
      </p:pic>
      <p:sp>
        <p:nvSpPr>
          <p:cNvPr id="12" name="Text 7"/>
          <p:cNvSpPr txBox="1"/>
          <p:nvPr/>
        </p:nvSpPr>
        <p:spPr>
          <a:xfrm>
            <a:off x="1005840" y="2578608"/>
            <a:ext cx="4023360" cy="502920"/>
          </a:xfrm>
          <a:prstGeom prst="rect">
            <a:avLst/>
          </a:prstGeom>
          <a:noFill/>
          <a:ln/>
        </p:spPr>
        <p:txBody>
          <a:bodyPr wrap="square" lIns="0" tIns="0" rIns="0" bIns="0" rtlCol="0" anchor="ctr"/>
          <a:lstStyle/>
          <a:p>
            <a:pPr indent="0" marL="0">
              <a:buNone/>
            </a:pPr>
            <a:r>
              <a:rPr lang="en-US" sz="1050" dirty="0">
                <a:solidFill>
                  <a:srgbClr val="1B2B30"/>
                </a:solidFill>
                <a:latin typeface="Meiryo" pitchFamily="34" charset="0"/>
                <a:ea typeface="Meiryo" pitchFamily="34" charset="-122"/>
                <a:cs typeface="Meiryo" pitchFamily="34" charset="-120"/>
              </a:rPr>
              <a:t>互換レイヤー、FSP 設定・ピン修正、カメラ／AI タスク化</a:t>
            </a:r>
            <a:endParaRPr lang="en-US" sz="1050" dirty="0"/>
          </a:p>
        </p:txBody>
      </p:sp>
      <p:sp>
        <p:nvSpPr>
          <p:cNvPr id="13" name="Shape 8"/>
          <p:cNvSpPr/>
          <p:nvPr/>
        </p:nvSpPr>
        <p:spPr>
          <a:xfrm>
            <a:off x="457200" y="3182112"/>
            <a:ext cx="411480" cy="411480"/>
          </a:xfrm>
          <a:prstGeom prst="ellipse">
            <a:avLst/>
          </a:prstGeom>
          <a:solidFill>
            <a:srgbClr val="E89B2F"/>
          </a:solidFill>
          <a:ln w="12700">
            <a:solidFill>
              <a:srgbClr val="E89B2F"/>
            </a:solidFill>
            <a:prstDash val="solid"/>
          </a:ln>
        </p:spPr>
      </p:sp>
      <p:pic>
        <p:nvPicPr>
          <p:cNvPr id="14" name="Image 3" descr="preencoded.png">    </p:cNvPr>
          <p:cNvPicPr>
            <a:picLocks noChangeAspect="1"/>
          </p:cNvPicPr>
          <p:nvPr/>
        </p:nvPicPr>
        <p:blipFill>
          <a:blip r:embed="rId4"/>
          <a:stretch>
            <a:fillRect/>
          </a:stretch>
        </p:blipFill>
        <p:spPr>
          <a:xfrm>
            <a:off x="547726" y="3272638"/>
            <a:ext cx="230429" cy="230429"/>
          </a:xfrm>
          <a:prstGeom prst="rect">
            <a:avLst/>
          </a:prstGeom>
        </p:spPr>
      </p:pic>
      <p:sp>
        <p:nvSpPr>
          <p:cNvPr id="15" name="Text 9"/>
          <p:cNvSpPr txBox="1"/>
          <p:nvPr/>
        </p:nvSpPr>
        <p:spPr>
          <a:xfrm>
            <a:off x="1005840" y="3182112"/>
            <a:ext cx="4023360" cy="502920"/>
          </a:xfrm>
          <a:prstGeom prst="rect">
            <a:avLst/>
          </a:prstGeom>
          <a:noFill/>
          <a:ln/>
        </p:spPr>
        <p:txBody>
          <a:bodyPr wrap="square" lIns="0" tIns="0" rIns="0" bIns="0" rtlCol="0" anchor="ctr"/>
          <a:lstStyle/>
          <a:p>
            <a:pPr indent="0" marL="0">
              <a:buNone/>
            </a:pPr>
            <a:r>
              <a:rPr lang="en-US" sz="1050" dirty="0">
                <a:solidFill>
                  <a:srgbClr val="1B2B30"/>
                </a:solidFill>
                <a:latin typeface="Meiryo" pitchFamily="34" charset="0"/>
                <a:ea typeface="Meiryo" pitchFamily="34" charset="-122"/>
                <a:cs typeface="Meiryo" pitchFamily="34" charset="-120"/>
              </a:rPr>
              <a:t>μT-Kernel 版の LCD 表示確認（故障のため代替機待ち）</a:t>
            </a:r>
            <a:endParaRPr lang="en-US" sz="1050" dirty="0"/>
          </a:p>
        </p:txBody>
      </p:sp>
      <p:sp>
        <p:nvSpPr>
          <p:cNvPr id="16" name="Shape 10"/>
          <p:cNvSpPr/>
          <p:nvPr/>
        </p:nvSpPr>
        <p:spPr>
          <a:xfrm>
            <a:off x="457200" y="3785616"/>
            <a:ext cx="411480" cy="411480"/>
          </a:xfrm>
          <a:prstGeom prst="ellipse">
            <a:avLst/>
          </a:prstGeom>
          <a:solidFill>
            <a:srgbClr val="5B6B70"/>
          </a:solidFill>
          <a:ln w="12700">
            <a:solidFill>
              <a:srgbClr val="5B6B70"/>
            </a:solidFill>
            <a:prstDash val="solid"/>
          </a:ln>
        </p:spPr>
      </p:sp>
      <p:pic>
        <p:nvPicPr>
          <p:cNvPr id="17" name="Image 4" descr="preencoded.png">    </p:cNvPr>
          <p:cNvPicPr>
            <a:picLocks noChangeAspect="1"/>
          </p:cNvPicPr>
          <p:nvPr/>
        </p:nvPicPr>
        <p:blipFill>
          <a:blip r:embed="rId5"/>
          <a:stretch>
            <a:fillRect/>
          </a:stretch>
        </p:blipFill>
        <p:spPr>
          <a:xfrm>
            <a:off x="547726" y="3876142"/>
            <a:ext cx="230429" cy="230429"/>
          </a:xfrm>
          <a:prstGeom prst="rect">
            <a:avLst/>
          </a:prstGeom>
        </p:spPr>
      </p:pic>
      <p:sp>
        <p:nvSpPr>
          <p:cNvPr id="18" name="Text 11"/>
          <p:cNvSpPr txBox="1"/>
          <p:nvPr/>
        </p:nvSpPr>
        <p:spPr>
          <a:xfrm>
            <a:off x="1005840" y="3785616"/>
            <a:ext cx="4023360" cy="502920"/>
          </a:xfrm>
          <a:prstGeom prst="rect">
            <a:avLst/>
          </a:prstGeom>
          <a:noFill/>
          <a:ln/>
        </p:spPr>
        <p:txBody>
          <a:bodyPr wrap="square" lIns="0" tIns="0" rIns="0" bIns="0" rtlCol="0" anchor="ctr"/>
          <a:lstStyle/>
          <a:p>
            <a:pPr indent="0" marL="0">
              <a:buNone/>
            </a:pPr>
            <a:r>
              <a:rPr lang="en-US" sz="1050" dirty="0">
                <a:solidFill>
                  <a:srgbClr val="1B2B30"/>
                </a:solidFill>
                <a:latin typeface="Meiryo" pitchFamily="34" charset="0"/>
                <a:ea typeface="Meiryo" pitchFamily="34" charset="-122"/>
                <a:cs typeface="Meiryo" pitchFamily="34" charset="-120"/>
              </a:rPr>
              <a:t>6タスク化・転倒判定・プライバシー UI（設計済み）</a:t>
            </a:r>
            <a:endParaRPr lang="en-US" sz="1050" dirty="0"/>
          </a:p>
        </p:txBody>
      </p:sp>
      <p:sp>
        <p:nvSpPr>
          <p:cNvPr id="19" name="Shape 12"/>
          <p:cNvSpPr/>
          <p:nvPr/>
        </p:nvSpPr>
        <p:spPr>
          <a:xfrm>
            <a:off x="5212080" y="1325880"/>
            <a:ext cx="3474720" cy="3154680"/>
          </a:xfrm>
          <a:prstGeom prst="roundRect">
            <a:avLst>
              <a:gd name="adj" fmla="val 2319"/>
            </a:avLst>
          </a:prstGeom>
          <a:solidFill>
            <a:srgbClr val="E3F0F1"/>
          </a:solidFill>
          <a:ln w="9525">
            <a:solidFill>
              <a:srgbClr val="C9D6D8"/>
            </a:solidFill>
            <a:prstDash val="solid"/>
          </a:ln>
        </p:spPr>
      </p:sp>
      <p:sp>
        <p:nvSpPr>
          <p:cNvPr id="20" name="Text 13"/>
          <p:cNvSpPr txBox="1"/>
          <p:nvPr/>
        </p:nvSpPr>
        <p:spPr>
          <a:xfrm>
            <a:off x="5394960" y="1463040"/>
            <a:ext cx="3108960" cy="365760"/>
          </a:xfrm>
          <a:prstGeom prst="rect">
            <a:avLst/>
          </a:prstGeom>
          <a:noFill/>
          <a:ln/>
        </p:spPr>
        <p:txBody>
          <a:bodyPr wrap="square" lIns="0" tIns="0" rIns="0" bIns="0" rtlCol="0" anchor="ctr"/>
          <a:lstStyle/>
          <a:p>
            <a:pPr indent="0" marL="0">
              <a:buNone/>
            </a:pPr>
            <a:r>
              <a:rPr lang="en-US" sz="1400" b="1" dirty="0">
                <a:solidFill>
                  <a:srgbClr val="0F2A33"/>
                </a:solidFill>
                <a:latin typeface="Meiryo" pitchFamily="34" charset="0"/>
                <a:ea typeface="Meiryo" pitchFamily="34" charset="-122"/>
                <a:cs typeface="Meiryo" pitchFamily="34" charset="-120"/>
              </a:rPr>
              <a:t>代替機到着後の予定</a:t>
            </a:r>
            <a:endParaRPr lang="en-US" sz="1400" dirty="0"/>
          </a:p>
        </p:txBody>
      </p:sp>
      <p:sp>
        <p:nvSpPr>
          <p:cNvPr id="21" name="Shape 14"/>
          <p:cNvSpPr/>
          <p:nvPr/>
        </p:nvSpPr>
        <p:spPr>
          <a:xfrm>
            <a:off x="5394960" y="1965960"/>
            <a:ext cx="329184" cy="329184"/>
          </a:xfrm>
          <a:prstGeom prst="ellipse">
            <a:avLst/>
          </a:prstGeom>
          <a:solidFill>
            <a:srgbClr val="1F6F78"/>
          </a:solidFill>
          <a:ln w="12700">
            <a:solidFill>
              <a:srgbClr val="1F6F78"/>
            </a:solidFill>
            <a:prstDash val="solid"/>
          </a:ln>
        </p:spPr>
      </p:sp>
      <p:sp>
        <p:nvSpPr>
          <p:cNvPr id="22" name="Text 15"/>
          <p:cNvSpPr txBox="1"/>
          <p:nvPr/>
        </p:nvSpPr>
        <p:spPr>
          <a:xfrm>
            <a:off x="5394960" y="19659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3" name="Text 16"/>
          <p:cNvSpPr txBox="1"/>
          <p:nvPr/>
        </p:nvSpPr>
        <p:spPr>
          <a:xfrm>
            <a:off x="5852160" y="1920240"/>
            <a:ext cx="2743200" cy="420624"/>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LCD を含む実機動作確認</a:t>
            </a:r>
            <a:endParaRPr lang="en-US" sz="1100" dirty="0"/>
          </a:p>
        </p:txBody>
      </p:sp>
      <p:sp>
        <p:nvSpPr>
          <p:cNvPr id="24" name="Shape 17"/>
          <p:cNvSpPr/>
          <p:nvPr/>
        </p:nvSpPr>
        <p:spPr>
          <a:xfrm>
            <a:off x="5394960" y="2468880"/>
            <a:ext cx="329184" cy="329184"/>
          </a:xfrm>
          <a:prstGeom prst="ellipse">
            <a:avLst/>
          </a:prstGeom>
          <a:solidFill>
            <a:srgbClr val="1F6F78"/>
          </a:solidFill>
          <a:ln w="12700">
            <a:solidFill>
              <a:srgbClr val="1F6F78"/>
            </a:solidFill>
            <a:prstDash val="solid"/>
          </a:ln>
        </p:spPr>
      </p:sp>
      <p:sp>
        <p:nvSpPr>
          <p:cNvPr id="25" name="Text 18"/>
          <p:cNvSpPr txBox="1"/>
          <p:nvPr/>
        </p:nvSpPr>
        <p:spPr>
          <a:xfrm>
            <a:off x="5394960" y="24688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6" name="Text 19"/>
          <p:cNvSpPr txBox="1"/>
          <p:nvPr/>
        </p:nvSpPr>
        <p:spPr>
          <a:xfrm>
            <a:off x="5852160" y="2423160"/>
            <a:ext cx="2743200" cy="420624"/>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6タスク構成へ拡張</a:t>
            </a:r>
            <a:endParaRPr lang="en-US" sz="1100" dirty="0"/>
          </a:p>
        </p:txBody>
      </p:sp>
      <p:sp>
        <p:nvSpPr>
          <p:cNvPr id="27" name="Shape 20"/>
          <p:cNvSpPr/>
          <p:nvPr/>
        </p:nvSpPr>
        <p:spPr>
          <a:xfrm>
            <a:off x="5394960" y="2971800"/>
            <a:ext cx="329184" cy="329184"/>
          </a:xfrm>
          <a:prstGeom prst="ellipse">
            <a:avLst/>
          </a:prstGeom>
          <a:solidFill>
            <a:srgbClr val="1F6F78"/>
          </a:solidFill>
          <a:ln w="12700">
            <a:solidFill>
              <a:srgbClr val="1F6F78"/>
            </a:solidFill>
            <a:prstDash val="solid"/>
          </a:ln>
        </p:spPr>
      </p:sp>
      <p:sp>
        <p:nvSpPr>
          <p:cNvPr id="28" name="Text 21"/>
          <p:cNvSpPr txBox="1"/>
          <p:nvPr/>
        </p:nvSpPr>
        <p:spPr>
          <a:xfrm>
            <a:off x="5394960" y="29718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9" name="Text 22"/>
          <p:cNvSpPr txBox="1"/>
          <p:nvPr/>
        </p:nvSpPr>
        <p:spPr>
          <a:xfrm>
            <a:off x="5852160" y="2926080"/>
            <a:ext cx="2743200" cy="420624"/>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転倒判定の実装・しきい値調整</a:t>
            </a:r>
            <a:endParaRPr lang="en-US" sz="1100" dirty="0"/>
          </a:p>
        </p:txBody>
      </p:sp>
      <p:sp>
        <p:nvSpPr>
          <p:cNvPr id="30" name="Shape 23"/>
          <p:cNvSpPr/>
          <p:nvPr/>
        </p:nvSpPr>
        <p:spPr>
          <a:xfrm>
            <a:off x="5394960" y="3474720"/>
            <a:ext cx="329184" cy="329184"/>
          </a:xfrm>
          <a:prstGeom prst="ellipse">
            <a:avLst/>
          </a:prstGeom>
          <a:solidFill>
            <a:srgbClr val="1F6F78"/>
          </a:solidFill>
          <a:ln w="12700">
            <a:solidFill>
              <a:srgbClr val="1F6F78"/>
            </a:solidFill>
            <a:prstDash val="solid"/>
          </a:ln>
        </p:spPr>
      </p:sp>
      <p:sp>
        <p:nvSpPr>
          <p:cNvPr id="31" name="Text 24"/>
          <p:cNvSpPr txBox="1"/>
          <p:nvPr/>
        </p:nvSpPr>
        <p:spPr>
          <a:xfrm>
            <a:off x="5394960" y="34747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2" name="Text 25"/>
          <p:cNvSpPr txBox="1"/>
          <p:nvPr/>
        </p:nvSpPr>
        <p:spPr>
          <a:xfrm>
            <a:off x="5852160" y="3429000"/>
            <a:ext cx="2743200" cy="420624"/>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検知率・誤報率・遅延の計測</a:t>
            </a:r>
            <a:endParaRPr lang="en-US" sz="1100" dirty="0"/>
          </a:p>
        </p:txBody>
      </p:sp>
      <p:sp>
        <p:nvSpPr>
          <p:cNvPr id="33" name="Shape 26"/>
          <p:cNvSpPr/>
          <p:nvPr/>
        </p:nvSpPr>
        <p:spPr>
          <a:xfrm>
            <a:off x="5394960" y="3977640"/>
            <a:ext cx="329184" cy="329184"/>
          </a:xfrm>
          <a:prstGeom prst="ellipse">
            <a:avLst/>
          </a:prstGeom>
          <a:solidFill>
            <a:srgbClr val="1F6F78"/>
          </a:solidFill>
          <a:ln w="12700">
            <a:solidFill>
              <a:srgbClr val="1F6F78"/>
            </a:solidFill>
            <a:prstDash val="solid"/>
          </a:ln>
        </p:spPr>
      </p:sp>
      <p:sp>
        <p:nvSpPr>
          <p:cNvPr id="34" name="Text 27"/>
          <p:cNvSpPr txBox="1"/>
          <p:nvPr/>
        </p:nvSpPr>
        <p:spPr>
          <a:xfrm>
            <a:off x="5394960" y="39776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5" name="Text 28"/>
          <p:cNvSpPr txBox="1"/>
          <p:nvPr/>
        </p:nvSpPr>
        <p:spPr>
          <a:xfrm>
            <a:off x="5852160" y="3931920"/>
            <a:ext cx="2743200" cy="420624"/>
          </a:xfrm>
          <a:prstGeom prst="rect">
            <a:avLst/>
          </a:prstGeom>
          <a:noFill/>
          <a:ln/>
        </p:spPr>
        <p:txBody>
          <a:bodyPr wrap="square" lIns="0" tIns="0" rIns="0" bIns="0" rtlCol="0" anchor="ctr"/>
          <a:lstStyle/>
          <a:p>
            <a:pPr indent="0" marL="0">
              <a:buNone/>
            </a:pPr>
            <a:r>
              <a:rPr lang="en-US" sz="1100" dirty="0">
                <a:solidFill>
                  <a:srgbClr val="1B2B30"/>
                </a:solidFill>
                <a:latin typeface="Meiryo" pitchFamily="34" charset="0"/>
                <a:ea typeface="Meiryo" pitchFamily="34" charset="-122"/>
                <a:cs typeface="Meiryo" pitchFamily="34" charset="-120"/>
              </a:rPr>
              <a:t>人物検出モデルへの置き換え</a:t>
            </a:r>
            <a:endParaRPr lang="en-US" sz="1100" dirty="0"/>
          </a:p>
        </p:txBody>
      </p:sp>
      <p:sp>
        <p:nvSpPr>
          <p:cNvPr id="36" name="Text 29"/>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B6B70"/>
                </a:solidFill>
                <a:latin typeface="Meiryo" pitchFamily="34" charset="0"/>
                <a:ea typeface="Meiryo" pitchFamily="34" charset="-122"/>
                <a:cs typeface="Meiryo"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F2A33"/>
                </a:solidFill>
                <a:latin typeface="Meiryo" pitchFamily="34" charset="0"/>
                <a:ea typeface="Meiryo" pitchFamily="34" charset="-122"/>
                <a:cs typeface="Meiryo" pitchFamily="34" charset="-120"/>
              </a:rPr>
              <a:t>計画書からの変更点</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2011680"/>
                <a:gridCol w="2103120"/>
                <a:gridCol w="2651760"/>
              </a:tblGrid>
              <a:tr h="50292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項目</a:t>
                      </a:r>
                      <a:endParaRPr lang="en-US" sz="11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solidFill>
                      <a:srgbClr val="0F2A33"/>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計画書（2026年2月）</a:t>
                      </a:r>
                      <a:endParaRPr lang="en-US" sz="11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solidFill>
                      <a:srgbClr val="0F2A33"/>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本作品</a:t>
                      </a:r>
                      <a:endParaRPr lang="en-US" sz="11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solidFill>
                      <a:srgbClr val="0F2A33"/>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理由</a:t>
                      </a:r>
                      <a:endParaRPr lang="en-US" sz="110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solidFill>
                      <a:srgbClr val="0F2A33"/>
                    </a:solidFill>
                  </a:tcPr>
                </a:tc>
              </a:tr>
              <a:tr h="502920">
                <a:tc>
                  <a:txBody>
                    <a:bodyPr/>
                    <a:lstStyle/>
                    <a:p>
                      <a:pPr indent="0" marL="0">
                        <a:buNone/>
                      </a:pPr>
                      <a:r>
                        <a:rPr lang="en-US" sz="1050" b="1" dirty="0">
                          <a:solidFill>
                            <a:srgbClr val="1B2B30"/>
                          </a:solidFill>
                          <a:latin typeface="Meiryo" pitchFamily="34" charset="0"/>
                          <a:ea typeface="Meiryo" pitchFamily="34" charset="-122"/>
                          <a:cs typeface="Meiryo" pitchFamily="34" charset="-120"/>
                        </a:rPr>
                        <a:t>ボード</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STM32N6570-DK</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EK-RA8P1</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貸与ボードが EK-RA8P1 となったため</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r>
              <a:tr h="502920">
                <a:tc>
                  <a:txBody>
                    <a:bodyPr/>
                    <a:lstStyle/>
                    <a:p>
                      <a:pPr indent="0" marL="0">
                        <a:buNone/>
                      </a:pPr>
                      <a:r>
                        <a:rPr lang="en-US" sz="1050" b="1" dirty="0">
                          <a:solidFill>
                            <a:srgbClr val="1B2B30"/>
                          </a:solidFill>
                          <a:latin typeface="Meiryo" pitchFamily="34" charset="0"/>
                          <a:ea typeface="Meiryo" pitchFamily="34" charset="-122"/>
                          <a:cs typeface="Meiryo" pitchFamily="34" charset="-120"/>
                        </a:rPr>
                        <a:t>NPU / AI ツール</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Neural-ART / STM32Cube.AI</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Ethos-U55 / RUHMI</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ボード変更に伴う</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r>
              <a:tr h="502920">
                <a:tc>
                  <a:txBody>
                    <a:bodyPr/>
                    <a:lstStyle/>
                    <a:p>
                      <a:pPr indent="0" marL="0">
                        <a:buNone/>
                      </a:pPr>
                      <a:r>
                        <a:rPr lang="en-US" sz="1050" b="1" dirty="0">
                          <a:solidFill>
                            <a:srgbClr val="1B2B30"/>
                          </a:solidFill>
                          <a:latin typeface="Meiryo" pitchFamily="34" charset="0"/>
                          <a:ea typeface="Meiryo" pitchFamily="34" charset="-122"/>
                          <a:cs typeface="Meiryo" pitchFamily="34" charset="-120"/>
                        </a:rPr>
                        <a:t>認識方式</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転倒状態の分類</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物体検出＋時系列ルール</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実績のあるモデルで確実に動かすため</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r>
              <a:tr h="502920">
                <a:tc>
                  <a:txBody>
                    <a:bodyPr/>
                    <a:lstStyle/>
                    <a:p>
                      <a:pPr indent="0" marL="0">
                        <a:buNone/>
                      </a:pPr>
                      <a:r>
                        <a:rPr lang="en-US" sz="1050" b="1" dirty="0">
                          <a:solidFill>
                            <a:srgbClr val="1B2B30"/>
                          </a:solidFill>
                          <a:latin typeface="Meiryo" pitchFamily="34" charset="0"/>
                          <a:ea typeface="Meiryo" pitchFamily="34" charset="-122"/>
                          <a:cs typeface="Meiryo" pitchFamily="34" charset="-120"/>
                        </a:rPr>
                        <a:t>通知</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LED またはネットワーク</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LED・LCD・シリアル</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キット同梱品だけで審査員が再現できるように</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r>
              <a:tr h="502920">
                <a:tc>
                  <a:txBody>
                    <a:bodyPr/>
                    <a:lstStyle/>
                    <a:p>
                      <a:pPr indent="0" marL="0">
                        <a:buNone/>
                      </a:pPr>
                      <a:r>
                        <a:rPr lang="en-US" sz="1050" b="1" dirty="0">
                          <a:solidFill>
                            <a:srgbClr val="1B2B30"/>
                          </a:solidFill>
                          <a:latin typeface="Meiryo" pitchFamily="34" charset="0"/>
                          <a:ea typeface="Meiryo" pitchFamily="34" charset="-122"/>
                          <a:cs typeface="Meiryo" pitchFamily="34" charset="-120"/>
                        </a:rPr>
                        <a:t>タスク構成</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6タスク</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6タスク（現在は2タスクで移植）</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c>
                  <a:txBody>
                    <a:bodyPr/>
                    <a:lstStyle/>
                    <a:p>
                      <a:pPr indent="0" marL="0">
                        <a:buNone/>
                      </a:pPr>
                      <a:r>
                        <a:rPr lang="en-US" sz="1050" dirty="0">
                          <a:solidFill>
                            <a:srgbClr val="1B2B30"/>
                          </a:solidFill>
                          <a:latin typeface="Meiryo" pitchFamily="34" charset="0"/>
                          <a:ea typeface="Meiryo" pitchFamily="34" charset="-122"/>
                          <a:cs typeface="Meiryo" pitchFamily="34" charset="-120"/>
                        </a:rPr>
                        <a:t>まず公式サンプルの確実な移植を優先</a:t>
                      </a:r>
                      <a:endParaRPr lang="en-US" sz="1050" dirty="0">
                        <a:latin typeface="Meiryo" charset="0"/>
                        <a:ea typeface="Meiryo" charset="0"/>
                        <a:cs typeface="Meiryo" charset="0"/>
                      </a:endParaRPr>
                    </a:p>
                  </a:txBody>
                  <a:tcPr marL="54864" marR="54864" marT="54864" marB="54864" anchor="ctr">
                    <a:lnL w="6350" cap="flat" cmpd="sng" algn="ctr">
                      <a:solidFill>
                        <a:srgbClr val="C9D6D8"/>
                      </a:solidFill>
                      <a:prstDash val="solid"/>
                      <a:round/>
                      <a:headEnd type="none" w="med" len="med"/>
                      <a:tailEnd type="none" w="med" len="med"/>
                    </a:lnL>
                    <a:lnR w="6350" cap="flat" cmpd="sng" algn="ctr">
                      <a:solidFill>
                        <a:srgbClr val="C9D6D8"/>
                      </a:solidFill>
                      <a:prstDash val="solid"/>
                      <a:round/>
                      <a:headEnd type="none" w="med" len="med"/>
                      <a:tailEnd type="none" w="med" len="med"/>
                    </a:lnR>
                    <a:lnT w="6350" cap="flat" cmpd="sng" algn="ctr">
                      <a:solidFill>
                        <a:srgbClr val="C9D6D8"/>
                      </a:solidFill>
                      <a:prstDash val="solid"/>
                      <a:round/>
                      <a:headEnd type="none" w="med" len="med"/>
                      <a:tailEnd type="none" w="med" len="med"/>
                    </a:lnT>
                    <a:lnB w="6350" cap="flat" cmpd="sng" algn="ctr">
                      <a:solidFill>
                        <a:srgbClr val="C9D6D8"/>
                      </a:solidFill>
                      <a:prstDash val="solid"/>
                      <a:round/>
                      <a:headEnd type="none" w="med" len="med"/>
                      <a:tailEnd type="none" w="med" len="med"/>
                    </a:lnB>
                  </a:tcPr>
                </a:tc>
              </a:tr>
            </a:tbl>
          </a:graphicData>
        </a:graphic>
      </p:graphicFrame>
      <p:sp>
        <p:nvSpPr>
          <p:cNvPr id="4" name="Text 1"/>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B6B70"/>
                </a:solidFill>
                <a:latin typeface="Meiryo" pitchFamily="34" charset="0"/>
                <a:ea typeface="Meiryo" pitchFamily="34" charset="-122"/>
                <a:cs typeface="Meiryo"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54864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まとめ</a:t>
            </a:r>
            <a:endParaRPr lang="en-US" sz="3000" dirty="0"/>
          </a:p>
        </p:txBody>
      </p:sp>
      <p:sp>
        <p:nvSpPr>
          <p:cNvPr id="3" name="Shape 1"/>
          <p:cNvSpPr/>
          <p:nvPr/>
        </p:nvSpPr>
        <p:spPr>
          <a:xfrm>
            <a:off x="548640" y="1371600"/>
            <a:ext cx="548640" cy="548640"/>
          </a:xfrm>
          <a:prstGeom prst="ellipse">
            <a:avLst/>
          </a:prstGeom>
          <a:solidFill>
            <a:srgbClr val="1F6F78"/>
          </a:solidFill>
          <a:ln w="12700">
            <a:solidFill>
              <a:srgbClr val="1F6F78"/>
            </a:solidFill>
            <a:prstDash val="solid"/>
          </a:ln>
        </p:spPr>
      </p:sp>
      <p:pic>
        <p:nvPicPr>
          <p:cNvPr id="4" name="Image 0" descr="preencoded.png">    </p:cNvPr>
          <p:cNvPicPr>
            <a:picLocks noChangeAspect="1"/>
          </p:cNvPicPr>
          <p:nvPr/>
        </p:nvPicPr>
        <p:blipFill>
          <a:blip r:embed="rId1"/>
          <a:stretch>
            <a:fillRect/>
          </a:stretch>
        </p:blipFill>
        <p:spPr>
          <a:xfrm>
            <a:off x="669341" y="1492301"/>
            <a:ext cx="307238" cy="307238"/>
          </a:xfrm>
          <a:prstGeom prst="rect">
            <a:avLst/>
          </a:prstGeom>
        </p:spPr>
      </p:pic>
      <p:sp>
        <p:nvSpPr>
          <p:cNvPr id="5" name="Text 2"/>
          <p:cNvSpPr txBox="1"/>
          <p:nvPr/>
        </p:nvSpPr>
        <p:spPr>
          <a:xfrm>
            <a:off x="1325880" y="1371600"/>
            <a:ext cx="7315200" cy="548640"/>
          </a:xfrm>
          <a:prstGeom prst="rect">
            <a:avLst/>
          </a:prstGeom>
          <a:noFill/>
          <a:ln/>
        </p:spPr>
        <p:txBody>
          <a:bodyPr wrap="square" lIns="0" tIns="0" rIns="0" bIns="0" rtlCol="0" anchor="ctr"/>
          <a:lstStyle/>
          <a:p>
            <a:pPr indent="0" marL="0">
              <a:buNone/>
            </a:pPr>
            <a:r>
              <a:rPr lang="en-US" sz="1500" dirty="0">
                <a:solidFill>
                  <a:srgbClr val="FFFFFF"/>
                </a:solidFill>
                <a:latin typeface="Meiryo" pitchFamily="34" charset="0"/>
                <a:ea typeface="Meiryo" pitchFamily="34" charset="-122"/>
                <a:cs typeface="Meiryo" pitchFamily="34" charset="-120"/>
              </a:rPr>
              <a:t>映像を外に出さない転倒見守りを、マイコン1枚で実現する</a:t>
            </a:r>
            <a:endParaRPr lang="en-US" sz="1500" dirty="0"/>
          </a:p>
        </p:txBody>
      </p:sp>
      <p:sp>
        <p:nvSpPr>
          <p:cNvPr id="6" name="Shape 3"/>
          <p:cNvSpPr/>
          <p:nvPr/>
        </p:nvSpPr>
        <p:spPr>
          <a:xfrm>
            <a:off x="548640" y="2240280"/>
            <a:ext cx="548640" cy="548640"/>
          </a:xfrm>
          <a:prstGeom prst="ellipse">
            <a:avLst/>
          </a:prstGeom>
          <a:solidFill>
            <a:srgbClr val="1F6F78"/>
          </a:solidFill>
          <a:ln w="12700">
            <a:solidFill>
              <a:srgbClr val="1F6F78"/>
            </a:solidFill>
            <a:prstDash val="solid"/>
          </a:ln>
        </p:spPr>
      </p:sp>
      <p:pic>
        <p:nvPicPr>
          <p:cNvPr id="7" name="Image 1" descr="preencoded.png">    </p:cNvPr>
          <p:cNvPicPr>
            <a:picLocks noChangeAspect="1"/>
          </p:cNvPicPr>
          <p:nvPr/>
        </p:nvPicPr>
        <p:blipFill>
          <a:blip r:embed="rId2"/>
          <a:stretch>
            <a:fillRect/>
          </a:stretch>
        </p:blipFill>
        <p:spPr>
          <a:xfrm>
            <a:off x="669341" y="2360981"/>
            <a:ext cx="307238" cy="307238"/>
          </a:xfrm>
          <a:prstGeom prst="rect">
            <a:avLst/>
          </a:prstGeom>
        </p:spPr>
      </p:pic>
      <p:sp>
        <p:nvSpPr>
          <p:cNvPr id="8" name="Text 4"/>
          <p:cNvSpPr txBox="1"/>
          <p:nvPr/>
        </p:nvSpPr>
        <p:spPr>
          <a:xfrm>
            <a:off x="1325880" y="2240280"/>
            <a:ext cx="7315200" cy="548640"/>
          </a:xfrm>
          <a:prstGeom prst="rect">
            <a:avLst/>
          </a:prstGeom>
          <a:noFill/>
          <a:ln/>
        </p:spPr>
        <p:txBody>
          <a:bodyPr wrap="square" lIns="0" tIns="0" rIns="0" bIns="0" rtlCol="0" anchor="ctr"/>
          <a:lstStyle/>
          <a:p>
            <a:pPr indent="0" marL="0">
              <a:buNone/>
            </a:pPr>
            <a:r>
              <a:rPr lang="en-US" sz="1500" dirty="0">
                <a:solidFill>
                  <a:srgbClr val="FFFFFF"/>
                </a:solidFill>
                <a:latin typeface="Meiryo" pitchFamily="34" charset="0"/>
                <a:ea typeface="Meiryo" pitchFamily="34" charset="-122"/>
                <a:cs typeface="Meiryo" pitchFamily="34" charset="-120"/>
              </a:rPr>
              <a:t>ルネサス公式の AI サンプルを μT-Kernel 3.0 へ移植し、互換レイヤーと移植ノウハウを公開</a:t>
            </a:r>
            <a:endParaRPr lang="en-US" sz="1500" dirty="0"/>
          </a:p>
        </p:txBody>
      </p:sp>
      <p:sp>
        <p:nvSpPr>
          <p:cNvPr id="9" name="Shape 5"/>
          <p:cNvSpPr/>
          <p:nvPr/>
        </p:nvSpPr>
        <p:spPr>
          <a:xfrm>
            <a:off x="548640" y="3108960"/>
            <a:ext cx="548640" cy="548640"/>
          </a:xfrm>
          <a:prstGeom prst="ellipse">
            <a:avLst/>
          </a:prstGeom>
          <a:solidFill>
            <a:srgbClr val="1F6F78"/>
          </a:solidFill>
          <a:ln w="12700">
            <a:solidFill>
              <a:srgbClr val="1F6F78"/>
            </a:solidFill>
            <a:prstDash val="solid"/>
          </a:ln>
        </p:spPr>
      </p:sp>
      <p:pic>
        <p:nvPicPr>
          <p:cNvPr id="10" name="Image 2" descr="preencoded.png">    </p:cNvPr>
          <p:cNvPicPr>
            <a:picLocks noChangeAspect="1"/>
          </p:cNvPicPr>
          <p:nvPr/>
        </p:nvPicPr>
        <p:blipFill>
          <a:blip r:embed="rId3"/>
          <a:stretch>
            <a:fillRect/>
          </a:stretch>
        </p:blipFill>
        <p:spPr>
          <a:xfrm>
            <a:off x="669341" y="3229661"/>
            <a:ext cx="307238" cy="307238"/>
          </a:xfrm>
          <a:prstGeom prst="rect">
            <a:avLst/>
          </a:prstGeom>
        </p:spPr>
      </p:pic>
      <p:sp>
        <p:nvSpPr>
          <p:cNvPr id="11" name="Text 6"/>
          <p:cNvSpPr txBox="1"/>
          <p:nvPr/>
        </p:nvSpPr>
        <p:spPr>
          <a:xfrm>
            <a:off x="1325880" y="3108960"/>
            <a:ext cx="7315200" cy="548640"/>
          </a:xfrm>
          <a:prstGeom prst="rect">
            <a:avLst/>
          </a:prstGeom>
          <a:noFill/>
          <a:ln/>
        </p:spPr>
        <p:txBody>
          <a:bodyPr wrap="square" lIns="0" tIns="0" rIns="0" bIns="0" rtlCol="0" anchor="ctr"/>
          <a:lstStyle/>
          <a:p>
            <a:pPr indent="0" marL="0">
              <a:buNone/>
            </a:pPr>
            <a:r>
              <a:rPr lang="en-US" sz="1500" dirty="0">
                <a:solidFill>
                  <a:srgbClr val="FFFFFF"/>
                </a:solidFill>
                <a:latin typeface="Meiryo" pitchFamily="34" charset="0"/>
                <a:ea typeface="Meiryo" pitchFamily="34" charset="-122"/>
                <a:cs typeface="Meiryo" pitchFamily="34" charset="-120"/>
              </a:rPr>
              <a:t>代替機到着後、6タスク化・転倒判定・定量評価を行い更新版を提出</a:t>
            </a:r>
            <a:endParaRPr lang="en-US" sz="1500" dirty="0"/>
          </a:p>
        </p:txBody>
      </p:sp>
      <p:sp>
        <p:nvSpPr>
          <p:cNvPr id="12" name="Text 7"/>
          <p:cNvSpPr txBox="1"/>
          <p:nvPr/>
        </p:nvSpPr>
        <p:spPr>
          <a:xfrm>
            <a:off x="548640" y="4114800"/>
            <a:ext cx="8046720" cy="548640"/>
          </a:xfrm>
          <a:prstGeom prst="rect">
            <a:avLst/>
          </a:prstGeom>
          <a:noFill/>
          <a:ln/>
        </p:spPr>
        <p:txBody>
          <a:bodyPr wrap="square" lIns="0" tIns="0" rIns="0" bIns="0" rtlCol="0" anchor="ctr"/>
          <a:lstStyle/>
          <a:p>
            <a:pPr indent="0" marL="0">
              <a:buNone/>
            </a:pPr>
            <a:r>
              <a:rPr lang="en-US" sz="1200" dirty="0">
                <a:solidFill>
                  <a:srgbClr val="9CC8CC"/>
                </a:solidFill>
                <a:latin typeface="Meiryo" pitchFamily="34" charset="0"/>
                <a:ea typeface="Meiryo" pitchFamily="34" charset="-122"/>
                <a:cs typeface="Meiryo" pitchFamily="34" charset="-120"/>
              </a:rPr>
              <a:t>ソースコード・手順書（オープンソースで公開）</a:t>
            </a:r>
            <a:endParaRPr lang="en-US" sz="1200" dirty="0"/>
          </a:p>
          <a:p>
            <a:pPr indent="0" marL="0">
              <a:buNone/>
            </a:pPr>
            <a:r>
              <a:rPr lang="en-US" sz="1200" dirty="0">
                <a:solidFill>
                  <a:srgbClr val="9CC8CC"/>
                </a:solidFill>
                <a:latin typeface="Meiryo" pitchFamily="34" charset="0"/>
                <a:ea typeface="Meiryo" pitchFamily="34" charset="-122"/>
                <a:cs typeface="Meiryo" pitchFamily="34" charset="-120"/>
              </a:rPr>
              <a:t>https://github.com/syouun/ek-ra8p1-blinky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プライバシー保護型・転倒検知エッジAI</dc:title>
  <dc:subject>PptxGenJS Presentation</dc:subject>
  <dc:creator>田中 真</dc:creator>
  <cp:lastModifiedBy>田中 真</cp:lastModifiedBy>
  <cp:revision>1</cp:revision>
  <dcterms:created xsi:type="dcterms:W3CDTF">2026-09-30T07:00:31Z</dcterms:created>
  <dcterms:modified xsi:type="dcterms:W3CDTF">2026-09-30T07:00:31Z</dcterms:modified>
</cp:coreProperties>
</file>